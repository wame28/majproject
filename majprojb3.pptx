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3"/>
  </p:notesMasterIdLst>
  <p:sldIdLst>
    <p:sldId id="256" r:id="rId3"/>
    <p:sldId id="403" r:id="rId4"/>
    <p:sldId id="399" r:id="rId5"/>
    <p:sldId id="400" r:id="rId6"/>
    <p:sldId id="258" r:id="rId7"/>
    <p:sldId id="259" r:id="rId8"/>
    <p:sldId id="405" r:id="rId9"/>
    <p:sldId id="404" r:id="rId10"/>
    <p:sldId id="414" r:id="rId11"/>
    <p:sldId id="415" r:id="rId12"/>
    <p:sldId id="416" r:id="rId13"/>
    <p:sldId id="417" r:id="rId14"/>
    <p:sldId id="406" r:id="rId15"/>
    <p:sldId id="408" r:id="rId16"/>
    <p:sldId id="410" r:id="rId17"/>
    <p:sldId id="411" r:id="rId18"/>
    <p:sldId id="412" r:id="rId19"/>
    <p:sldId id="413" r:id="rId20"/>
    <p:sldId id="401" r:id="rId21"/>
    <p:sldId id="28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715"/>
  </p:normalViewPr>
  <p:slideViewPr>
    <p:cSldViewPr showGuides="1">
      <p:cViewPr varScale="1">
        <p:scale>
          <a:sx n="129" d="100"/>
          <a:sy n="129" d="100"/>
        </p:scale>
        <p:origin x="1104" y="210"/>
      </p:cViewPr>
      <p:guideLst>
        <p:guide orient="horz" pos="2160"/>
        <p:guide pos="29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fld id="{11216171-A131-4111-8101-11D1D10191D1}" type="slidenum">
              <a:rPr kumimoji="0" lang="en-IN" sz="1800" b="0" i="0" u="none" strike="noStrike" kern="1200" cap="none" spc="0" normalizeH="0" baseline="0" noProof="0">
                <a:ln>
                  <a:noFill/>
                </a:ln>
                <a:solidFill>
                  <a:srgbClr val="000000"/>
                </a:solidFill>
                <a:effectLst/>
                <a:uLnTx/>
                <a:uFillTx/>
                <a:latin typeface="Arial"/>
                <a:ea typeface="+mn-ea"/>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sz="1800" b="0" i="0" u="none" strike="noStrike" kern="1200" cap="none" spc="0" normalizeH="0" baseline="0" noProof="0">
              <a:ln>
                <a:noFill/>
              </a:ln>
              <a:solidFill>
                <a:prstClr val="black"/>
              </a:solidFill>
              <a:effectLst/>
              <a:uLnTx/>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t>3</a:t>
            </a:fld>
            <a:endParaRPr lang="en-IN">
              <a:solidFill>
                <a:srgbClr val="000000"/>
              </a:solidFill>
              <a:latin typeface="+mn-lt"/>
              <a:ea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5</a:t>
            </a:fld>
            <a:endParaRPr lang="en-IN">
              <a:solidFill>
                <a:srgbClr val="000000"/>
              </a:solidFill>
              <a:latin typeface="+mn-lt"/>
              <a:ea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6</a:t>
            </a:fld>
            <a:endParaRPr lang="en-IN">
              <a:solidFill>
                <a:srgbClr val="000000"/>
              </a:solidFill>
              <a:latin typeface="+mn-lt"/>
              <a:ea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7</a:t>
            </a:fld>
            <a:endParaRPr lang="en-IN">
              <a:solidFill>
                <a:srgbClr val="000000"/>
              </a:solidFill>
              <a:latin typeface="+mn-lt"/>
              <a:ea typeface="+mn-ea"/>
            </a:endParaRPr>
          </a:p>
        </p:txBody>
      </p:sp>
    </p:spTree>
    <p:extLst>
      <p:ext uri="{BB962C8B-B14F-4D97-AF65-F5344CB8AC3E}">
        <p14:creationId xmlns:p14="http://schemas.microsoft.com/office/powerpoint/2010/main" val="1283872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8</a:t>
            </a:fld>
            <a:endParaRPr lang="en-IN">
              <a:solidFill>
                <a:srgbClr val="000000"/>
              </a:solidFill>
              <a:latin typeface="+mn-lt"/>
              <a:ea typeface="+mn-ea"/>
            </a:endParaRPr>
          </a:p>
        </p:txBody>
      </p:sp>
    </p:spTree>
    <p:extLst>
      <p:ext uri="{BB962C8B-B14F-4D97-AF65-F5344CB8AC3E}">
        <p14:creationId xmlns:p14="http://schemas.microsoft.com/office/powerpoint/2010/main" val="1480541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9</a:t>
            </a:fld>
            <a:endParaRPr lang="en-IN">
              <a:solidFill>
                <a:srgbClr val="000000"/>
              </a:solidFill>
              <a:latin typeface="+mn-lt"/>
              <a:ea typeface="+mn-ea"/>
            </a:endParaRPr>
          </a:p>
        </p:txBody>
      </p:sp>
    </p:spTree>
    <p:extLst>
      <p:ext uri="{BB962C8B-B14F-4D97-AF65-F5344CB8AC3E}">
        <p14:creationId xmlns:p14="http://schemas.microsoft.com/office/powerpoint/2010/main" val="2382568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10</a:t>
            </a:fld>
            <a:endParaRPr lang="en-IN">
              <a:solidFill>
                <a:srgbClr val="000000"/>
              </a:solidFill>
              <a:latin typeface="+mn-lt"/>
              <a:ea typeface="+mn-ea"/>
            </a:endParaRPr>
          </a:p>
        </p:txBody>
      </p:sp>
    </p:spTree>
    <p:extLst>
      <p:ext uri="{BB962C8B-B14F-4D97-AF65-F5344CB8AC3E}">
        <p14:creationId xmlns:p14="http://schemas.microsoft.com/office/powerpoint/2010/main" val="1822503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11</a:t>
            </a:fld>
            <a:endParaRPr lang="en-IN">
              <a:solidFill>
                <a:srgbClr val="000000"/>
              </a:solidFill>
              <a:latin typeface="+mn-lt"/>
              <a:ea typeface="+mn-ea"/>
            </a:endParaRPr>
          </a:p>
        </p:txBody>
      </p:sp>
    </p:spTree>
    <p:extLst>
      <p:ext uri="{BB962C8B-B14F-4D97-AF65-F5344CB8AC3E}">
        <p14:creationId xmlns:p14="http://schemas.microsoft.com/office/powerpoint/2010/main" val="1764586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12</a:t>
            </a:fld>
            <a:endParaRPr lang="en-IN">
              <a:solidFill>
                <a:srgbClr val="000000"/>
              </a:solidFill>
              <a:latin typeface="+mn-lt"/>
              <a:ea typeface="+mn-ea"/>
            </a:endParaRPr>
          </a:p>
        </p:txBody>
      </p:sp>
    </p:spTree>
    <p:extLst>
      <p:ext uri="{BB962C8B-B14F-4D97-AF65-F5344CB8AC3E}">
        <p14:creationId xmlns:p14="http://schemas.microsoft.com/office/powerpoint/2010/main" val="1487604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13</a:t>
            </a:fld>
            <a:endParaRPr lang="en-IN">
              <a:solidFill>
                <a:srgbClr val="000000"/>
              </a:solidFill>
              <a:latin typeface="+mn-lt"/>
              <a:ea typeface="+mn-ea"/>
            </a:endParaRPr>
          </a:p>
        </p:txBody>
      </p:sp>
    </p:spTree>
    <p:extLst>
      <p:ext uri="{BB962C8B-B14F-4D97-AF65-F5344CB8AC3E}">
        <p14:creationId xmlns:p14="http://schemas.microsoft.com/office/powerpoint/2010/main" val="54348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16</a:t>
            </a:fld>
            <a:endParaRPr lang="en-IN">
              <a:solidFill>
                <a:srgbClr val="000000"/>
              </a:solidFill>
              <a:latin typeface="+mn-lt"/>
              <a:ea typeface="+mn-ea"/>
            </a:endParaRPr>
          </a:p>
        </p:txBody>
      </p:sp>
    </p:spTree>
    <p:extLst>
      <p:ext uri="{BB962C8B-B14F-4D97-AF65-F5344CB8AC3E}">
        <p14:creationId xmlns:p14="http://schemas.microsoft.com/office/powerpoint/2010/main" val="657997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17</a:t>
            </a:fld>
            <a:endParaRPr lang="en-IN">
              <a:solidFill>
                <a:srgbClr val="000000"/>
              </a:solidFill>
              <a:latin typeface="+mn-lt"/>
              <a:ea typeface="+mn-ea"/>
            </a:endParaRPr>
          </a:p>
        </p:txBody>
      </p:sp>
    </p:spTree>
    <p:extLst>
      <p:ext uri="{BB962C8B-B14F-4D97-AF65-F5344CB8AC3E}">
        <p14:creationId xmlns:p14="http://schemas.microsoft.com/office/powerpoint/2010/main" val="1927068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18</a:t>
            </a:fld>
            <a:endParaRPr lang="en-IN">
              <a:solidFill>
                <a:srgbClr val="000000"/>
              </a:solidFill>
              <a:latin typeface="+mn-lt"/>
              <a:ea typeface="+mn-ea"/>
            </a:endParaRPr>
          </a:p>
        </p:txBody>
      </p:sp>
    </p:spTree>
    <p:extLst>
      <p:ext uri="{BB962C8B-B14F-4D97-AF65-F5344CB8AC3E}">
        <p14:creationId xmlns:p14="http://schemas.microsoft.com/office/powerpoint/2010/main" val="755483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2167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4245131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717117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51890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4275743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3298229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2690308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2883289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extLst>
      <p:ext uri="{BB962C8B-B14F-4D97-AF65-F5344CB8AC3E}">
        <p14:creationId xmlns:p14="http://schemas.microsoft.com/office/powerpoint/2010/main" val="33427756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11162341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988516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1491194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p>
          <a:p>
            <a:pPr lvl="1">
              <a:buSzPct val="75000"/>
              <a:buFont typeface="StarSymbol"/>
              <a:buChar char=""/>
            </a:pPr>
            <a:r>
              <a:rPr lang="en-IN"/>
              <a:t>Second Outline Level</a:t>
            </a:r>
          </a:p>
          <a:p>
            <a:pPr lvl="2">
              <a:buSzPct val="45000"/>
              <a:buFont typeface="StarSymbol"/>
              <a:buChar char=""/>
            </a:pPr>
            <a:r>
              <a:rPr lang="en-IN"/>
              <a:t>Third Outline Level</a:t>
            </a:r>
          </a:p>
          <a:p>
            <a:pPr lvl="3">
              <a:buSzPct val="75000"/>
              <a:buFont typeface="StarSymbol"/>
              <a:buChar char=""/>
            </a:pPr>
            <a:r>
              <a:rPr lang="en-IN"/>
              <a:t>Fourth Outline Level</a:t>
            </a:r>
          </a:p>
          <a:p>
            <a:pPr lvl="4">
              <a:buSzPct val="45000"/>
              <a:buFont typeface="StarSymbol"/>
              <a:buChar char=""/>
            </a:pPr>
            <a:r>
              <a:rPr lang="en-IN"/>
              <a:t>Fifth Outline Level</a:t>
            </a:r>
          </a:p>
          <a:p>
            <a:pPr lvl="5">
              <a:buSzPct val="45000"/>
              <a:buFont typeface="StarSymbol"/>
              <a:buChar char=""/>
            </a:pPr>
            <a:r>
              <a:rPr lang="en-IN"/>
              <a:t>Sixth Outline Level</a:t>
            </a:r>
          </a:p>
          <a:p>
            <a:pPr lvl="6">
              <a:buSzPct val="45000"/>
              <a:buFont typeface="StarSymbol"/>
              <a:buChar char=""/>
            </a:pPr>
            <a:r>
              <a:rPr lang="en-IN"/>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extLst>
      <p:ext uri="{BB962C8B-B14F-4D97-AF65-F5344CB8AC3E}">
        <p14:creationId xmlns:p14="http://schemas.microsoft.com/office/powerpoint/2010/main" val="7401356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researchgate.net/publication/366231011_Text_Summarization_using_NLP_Technique" TargetMode="External"/><Relationship Id="rId2" Type="http://schemas.openxmlformats.org/officeDocument/2006/relationships/hyperlink" Target="https://www.researchgate.net/publication/257947528_Text_SummarizationAn_Overview" TargetMode="External"/><Relationship Id="rId1" Type="http://schemas.openxmlformats.org/officeDocument/2006/relationships/slideLayout" Target="../slideLayouts/slideLayout6.xml"/><Relationship Id="rId5" Type="http://schemas.openxmlformats.org/officeDocument/2006/relationships/hyperlink" Target="https://www.researchgate.net/publication/220974615_Automatic_Text_Summarization_Using_a_Machine_Learning_Approach" TargetMode="External"/><Relationship Id="rId4" Type="http://schemas.openxmlformats.org/officeDocument/2006/relationships/hyperlink" Target="https://www.researchgate.net/publication/337653638_Text_Summarization_A_Brief_Review"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05000"/>
            <a:ext cx="9144000" cy="707886"/>
          </a:xfrm>
          <a:prstGeom prst="rect">
            <a:avLst/>
          </a:prstGeom>
          <a:noFill/>
        </p:spPr>
        <p:txBody>
          <a:bodyPr wrap="square" rtlCol="0">
            <a:spAutoFit/>
          </a:bodyPr>
          <a:lstStyle/>
          <a:p>
            <a:pPr algn="ctr"/>
            <a:r>
              <a:rPr lang="en-US" sz="4000" b="1" dirty="0">
                <a:ln w="1905"/>
                <a:solidFill>
                  <a:schemeClr val="accent4">
                    <a:lumMod val="75000"/>
                  </a:schemeClr>
                </a:solidFill>
                <a:effectLst>
                  <a:innerShdw blurRad="69850" dist="43180" dir="5400000">
                    <a:srgbClr val="000000">
                      <a:alpha val="65000"/>
                    </a:srgbClr>
                  </a:innerShdw>
                </a:effectLst>
              </a:rPr>
              <a:t>Text </a:t>
            </a:r>
            <a:r>
              <a:rPr lang="en-US" sz="4000" b="1">
                <a:ln w="1905"/>
                <a:solidFill>
                  <a:schemeClr val="accent4">
                    <a:lumMod val="75000"/>
                  </a:schemeClr>
                </a:solidFill>
                <a:effectLst>
                  <a:innerShdw blurRad="69850" dist="43180" dir="5400000">
                    <a:srgbClr val="000000">
                      <a:alpha val="65000"/>
                    </a:srgbClr>
                  </a:innerShdw>
                </a:effectLst>
              </a:rPr>
              <a:t>Condenser using ML</a:t>
            </a:r>
            <a:endParaRPr lang="en-US" sz="4000" b="1" dirty="0">
              <a:ln w="1905"/>
              <a:solidFill>
                <a:schemeClr val="accent4">
                  <a:lumMod val="75000"/>
                </a:schemeClr>
              </a:solidFill>
              <a:effectLst>
                <a:innerShdw blurRad="69850" dist="43180" dir="5400000">
                  <a:srgbClr val="000000">
                    <a:alpha val="65000"/>
                  </a:srgbClr>
                </a:innerShdw>
              </a:effectLst>
            </a:endParaRPr>
          </a:p>
        </p:txBody>
      </p:sp>
      <p:sp>
        <p:nvSpPr>
          <p:cNvPr id="3" name="TextBox 2"/>
          <p:cNvSpPr txBox="1"/>
          <p:nvPr/>
        </p:nvSpPr>
        <p:spPr>
          <a:xfrm>
            <a:off x="5370786" y="3761839"/>
            <a:ext cx="3166241" cy="461665"/>
          </a:xfrm>
          <a:prstGeom prst="rect">
            <a:avLst/>
          </a:prstGeom>
          <a:noFill/>
        </p:spPr>
        <p:txBody>
          <a:bodyPr wrap="square" rtlCol="0">
            <a:spAutoFit/>
          </a:bodyPr>
          <a:lstStyle/>
          <a:p>
            <a:r>
              <a:rPr lang="en-US" sz="2400" b="1" dirty="0">
                <a:solidFill>
                  <a:schemeClr val="tx2">
                    <a:lumMod val="75000"/>
                  </a:schemeClr>
                </a:solidFill>
              </a:rPr>
              <a:t>Name of the student</a:t>
            </a:r>
          </a:p>
        </p:txBody>
      </p:sp>
      <p:sp>
        <p:nvSpPr>
          <p:cNvPr id="4" name="TextBox 3"/>
          <p:cNvSpPr txBox="1"/>
          <p:nvPr/>
        </p:nvSpPr>
        <p:spPr>
          <a:xfrm>
            <a:off x="307975" y="5029200"/>
            <a:ext cx="5181600" cy="2906693"/>
          </a:xfrm>
          <a:prstGeom prst="rect">
            <a:avLst/>
          </a:prstGeom>
          <a:noFill/>
        </p:spPr>
        <p:txBody>
          <a:bodyPr wrap="square" rtlCol="0">
            <a:spAutoFit/>
          </a:bodyPr>
          <a:lstStyle/>
          <a:p>
            <a:pPr marR="64135" lvl="0">
              <a:lnSpc>
                <a:spcPct val="150000"/>
              </a:lnSpc>
              <a:spcBef>
                <a:spcPts val="400"/>
              </a:spcBef>
              <a:buClr>
                <a:schemeClr val="accent1"/>
              </a:buClr>
              <a:buSzPct val="68000"/>
              <a:defRPr/>
            </a:pPr>
            <a:r>
              <a:rPr lang="en-US" sz="2800" b="1" dirty="0">
                <a:solidFill>
                  <a:srgbClr val="C00000"/>
                </a:solidFill>
              </a:rPr>
              <a:t>Under esteemed guidance of</a:t>
            </a:r>
          </a:p>
          <a:p>
            <a:pPr marR="64135">
              <a:lnSpc>
                <a:spcPct val="150000"/>
              </a:lnSpc>
              <a:spcBef>
                <a:spcPts val="400"/>
              </a:spcBef>
              <a:buClr>
                <a:schemeClr val="accent1"/>
              </a:buClr>
              <a:buSzPct val="68000"/>
              <a:defRPr/>
            </a:pPr>
            <a:r>
              <a:rPr lang="en-US" sz="2400" b="1" dirty="0"/>
              <a:t>Dr. S. Kirubakaran</a:t>
            </a:r>
          </a:p>
          <a:p>
            <a:pPr marR="64135">
              <a:lnSpc>
                <a:spcPct val="150000"/>
              </a:lnSpc>
              <a:spcBef>
                <a:spcPts val="400"/>
              </a:spcBef>
              <a:buClr>
                <a:schemeClr val="accent1"/>
              </a:buClr>
              <a:buSzPct val="68000"/>
              <a:defRPr/>
            </a:pPr>
            <a:r>
              <a:rPr lang="en-US" sz="1600" dirty="0">
                <a:latin typeface="Times New Roman" panose="02020603050405020304" pitchFamily="18" charset="0"/>
                <a:cs typeface="Times New Roman" panose="02020603050405020304" pitchFamily="18" charset="0"/>
              </a:rPr>
              <a:t>PROFESSOR</a:t>
            </a:r>
          </a:p>
          <a:p>
            <a:pPr marR="64135">
              <a:lnSpc>
                <a:spcPct val="150000"/>
              </a:lnSpc>
              <a:spcBef>
                <a:spcPts val="400"/>
              </a:spcBef>
              <a:buClr>
                <a:schemeClr val="accent1"/>
              </a:buClr>
              <a:buSzPct val="68000"/>
              <a:defRPr/>
            </a:pPr>
            <a:endParaRPr lang="en-US" sz="2400" b="1" dirty="0"/>
          </a:p>
          <a:p>
            <a:pPr marR="64135" lvl="0">
              <a:lnSpc>
                <a:spcPct val="150000"/>
              </a:lnSpc>
              <a:spcBef>
                <a:spcPts val="400"/>
              </a:spcBef>
              <a:buClr>
                <a:schemeClr val="accent1"/>
              </a:buClr>
              <a:buSzPct val="68000"/>
              <a:defRPr/>
            </a:pPr>
            <a:endParaRPr lang="en-US" sz="2400" b="1" dirty="0">
              <a:solidFill>
                <a:srgbClr val="C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383411856"/>
              </p:ext>
            </p:extLst>
          </p:nvPr>
        </p:nvGraphicFramePr>
        <p:xfrm>
          <a:off x="1524000" y="228600"/>
          <a:ext cx="6553200" cy="951198"/>
        </p:xfrm>
        <a:graphic>
          <a:graphicData uri="http://schemas.openxmlformats.org/drawingml/2006/table">
            <a:tbl>
              <a:tblPr>
                <a:tableStyleId>{2D5ABB26-0587-4C30-8999-92F81FD0307C}</a:tableStyleId>
              </a:tblPr>
              <a:tblGrid>
                <a:gridCol w="6553200">
                  <a:extLst>
                    <a:ext uri="{9D8B030D-6E8A-4147-A177-3AD203B41FA5}">
                      <a16:colId xmlns:a16="http://schemas.microsoft.com/office/drawing/2014/main" val="20000"/>
                    </a:ext>
                  </a:extLst>
                </a:gridCol>
              </a:tblGrid>
              <a:tr h="0">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panose="020F0502020204030204"/>
                      </a:endParaRPr>
                    </a:p>
                  </a:txBody>
                  <a:tcPr marL="9199" marR="9199" marT="6133" marB="6133" anchor="b"/>
                </a:tc>
                <a:extLst>
                  <a:ext uri="{0D108BD9-81ED-4DB2-BD59-A6C34878D82A}">
                    <a16:rowId xmlns:a16="http://schemas.microsoft.com/office/drawing/2014/main" val="10000"/>
                  </a:ext>
                </a:extLst>
              </a:tr>
              <a:tr h="0">
                <a:tc>
                  <a:txBody>
                    <a:bodyPr/>
                    <a:lstStyle/>
                    <a:p>
                      <a:pPr algn="ctr" rtl="0" fontAlgn="b"/>
                      <a:r>
                        <a:rPr lang="en-US" sz="2000" dirty="0">
                          <a:solidFill>
                            <a:srgbClr val="002060"/>
                          </a:solidFill>
                        </a:rPr>
                        <a:t>Kandlakoya, Medchal, Hyderabad - 501401</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a16="http://schemas.microsoft.com/office/drawing/2014/main" val="10001"/>
                  </a:ext>
                </a:extLst>
              </a:tr>
              <a:tr h="0">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2286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6" name="TextBox 5"/>
          <p:cNvSpPr txBox="1"/>
          <p:nvPr/>
        </p:nvSpPr>
        <p:spPr>
          <a:xfrm>
            <a:off x="4616668" y="4357548"/>
            <a:ext cx="4495800" cy="1200329"/>
          </a:xfrm>
          <a:prstGeom prst="rect">
            <a:avLst/>
          </a:prstGeom>
          <a:noFill/>
        </p:spPr>
        <p:txBody>
          <a:bodyPr wrap="square" rtlCol="0">
            <a:spAutoFit/>
          </a:bodyPr>
          <a:lstStyle/>
          <a:p>
            <a:r>
              <a:rPr lang="en-US" dirty="0"/>
              <a:t>Sumit Chelluru                 (20H51A05F6)</a:t>
            </a:r>
          </a:p>
          <a:p>
            <a:r>
              <a:rPr lang="en-US" dirty="0"/>
              <a:t>Karthik </a:t>
            </a:r>
            <a:r>
              <a:rPr lang="en-US" dirty="0" err="1"/>
              <a:t>Adepu</a:t>
            </a:r>
            <a:r>
              <a:rPr lang="en-US" dirty="0"/>
              <a:t>                  (20H51A0535)</a:t>
            </a:r>
          </a:p>
          <a:p>
            <a:r>
              <a:rPr lang="en-US" dirty="0"/>
              <a:t>Sanjana </a:t>
            </a:r>
            <a:r>
              <a:rPr lang="en-US" dirty="0" err="1"/>
              <a:t>Yedapally</a:t>
            </a:r>
            <a:r>
              <a:rPr lang="en-US" dirty="0"/>
              <a:t>           (20H51A05M5)</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sp>
        <p:nvSpPr>
          <p:cNvPr id="44" name="CustomShape 2"/>
          <p:cNvSpPr/>
          <p:nvPr/>
        </p:nvSpPr>
        <p:spPr>
          <a:xfrm>
            <a:off x="457200" y="457200"/>
            <a:ext cx="8381160" cy="577440"/>
          </a:xfrm>
          <a:prstGeom prst="rect">
            <a:avLst/>
          </a:prstGeom>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C00000"/>
                </a:solidFill>
                <a:effectLst/>
                <a:uLnTx/>
                <a:uFillTx/>
                <a:latin typeface="Calibri"/>
              </a:rPr>
              <a:t>Outline</a:t>
            </a:r>
            <a:endParaRPr kumimoji="0" sz="1800" b="0" i="0" u="none" strike="noStrike" kern="1200" cap="none" spc="0" normalizeH="0" baseline="0" noProof="0">
              <a:ln>
                <a:noFill/>
              </a:ln>
              <a:solidFill>
                <a:srgbClr val="C00000"/>
              </a:solidFill>
              <a:effectLst/>
              <a:uLnTx/>
              <a:uFillTx/>
              <a:latin typeface="Arial"/>
            </a:endParaRPr>
          </a:p>
        </p:txBody>
      </p:sp>
      <p:sp>
        <p:nvSpPr>
          <p:cNvPr id="45" name="CustomShape 3"/>
          <p:cNvSpPr/>
          <p:nvPr/>
        </p:nvSpPr>
        <p:spPr>
          <a:xfrm>
            <a:off x="914400" y="1639740"/>
            <a:ext cx="6477000" cy="4380060"/>
          </a:xfrm>
          <a:prstGeom prst="rect">
            <a:avLst/>
          </a:prstGeom>
        </p:spPr>
        <p:txBody>
          <a:bodyPr lIns="90000" tIns="45000" rIns="90000" bIns="45000"/>
          <a:lstStyle/>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Abstract </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Introduction </a:t>
            </a:r>
          </a:p>
          <a:p>
            <a:pPr marL="0" marR="0" lvl="0" indent="0" algn="l" defTabSz="914400" rtl="0" eaLnBrk="1" fontAlgn="auto" latinLnBrk="0" hangingPunct="1">
              <a:lnSpc>
                <a:spcPct val="150000"/>
              </a:lnSpc>
              <a:spcBef>
                <a:spcPts val="0"/>
              </a:spcBef>
              <a:spcAft>
                <a:spcPts val="0"/>
              </a:spcAft>
              <a:buClrTx/>
              <a:buSzTx/>
              <a:buFont typeface="Arial"/>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Research Objective </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Problem Definition</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Scope of the Project</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Literature Review</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Implementation of Existing system</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Conclusion</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References</a:t>
            </a:r>
            <a:r>
              <a:rPr kumimoji="0" lang="en-IN" sz="2800" b="1" i="0" u="none" strike="noStrike" kern="1200" cap="none" spc="0" normalizeH="0" baseline="0" noProof="0" dirty="0">
                <a:ln>
                  <a:noFill/>
                </a:ln>
                <a:solidFill>
                  <a:srgbClr val="000000"/>
                </a:solidFill>
                <a:effectLst/>
                <a:uLnTx/>
                <a:uFillTx/>
                <a:latin typeface="Calibri"/>
              </a:rPr>
              <a:t>	</a:t>
            </a:r>
            <a:endParaRPr kumimoji="0" sz="1800" b="0" i="0" u="none" strike="noStrike" kern="1200" cap="none" spc="0" normalizeH="0" baseline="0" noProof="0" dirty="0">
              <a:ln>
                <a:noFill/>
              </a:ln>
              <a:solidFill>
                <a:prstClr val="black"/>
              </a:solidFill>
              <a:effectLst/>
              <a:uLnTx/>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495180" y="3771360"/>
            <a:ext cx="8076600" cy="75600"/>
          </a:xfrm>
          <a:prstGeom prst="rect">
            <a:avLst/>
          </a:prstGeom>
          <a:solidFill>
            <a:srgbClr val="7030A0"/>
          </a:solidFill>
          <a:ln w="25560">
            <a:solidFill>
              <a:srgbClr val="3A5F8B"/>
            </a:solidFill>
            <a:round/>
          </a:ln>
        </p:spPr>
        <p:txBody>
          <a:bodyPr/>
          <a:lstStyle/>
          <a:p>
            <a:endParaRPr lang="en-US"/>
          </a:p>
        </p:txBody>
      </p:sp>
      <p:sp>
        <p:nvSpPr>
          <p:cNvPr id="83" name="CustomShape 2"/>
          <p:cNvSpPr/>
          <p:nvPr/>
        </p:nvSpPr>
        <p:spPr>
          <a:xfrm>
            <a:off x="419220" y="304884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pitchFamily="34" charset="0"/>
              </a:rPr>
              <a:t>Abstract </a:t>
            </a:r>
            <a:endParaRPr dirty="0">
              <a:latin typeface="Arial Black" panose="020B0A04020102020204"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381420" y="874711"/>
            <a:ext cx="8381160" cy="75600"/>
          </a:xfrm>
          <a:prstGeom prst="rect">
            <a:avLst/>
          </a:prstGeom>
          <a:solidFill>
            <a:srgbClr val="7030A0"/>
          </a:solidFill>
          <a:ln w="25560">
            <a:solidFill>
              <a:srgbClr val="3A5F8B"/>
            </a:solidFill>
            <a:round/>
          </a:ln>
        </p:spPr>
        <p:txBody>
          <a:bodyPr/>
          <a:lstStyle/>
          <a:p>
            <a:endParaRPr lang="en-US"/>
          </a:p>
        </p:txBody>
      </p:sp>
      <p:sp>
        <p:nvSpPr>
          <p:cNvPr id="5" name="TextBox 4"/>
          <p:cNvSpPr txBox="1"/>
          <p:nvPr/>
        </p:nvSpPr>
        <p:spPr>
          <a:xfrm>
            <a:off x="533400" y="249047"/>
            <a:ext cx="3657600" cy="584775"/>
          </a:xfrm>
          <a:prstGeom prst="rect">
            <a:avLst/>
          </a:prstGeom>
          <a:noFill/>
        </p:spPr>
        <p:txBody>
          <a:bodyPr wrap="square" rtlCol="0">
            <a:spAutoFit/>
          </a:bodyPr>
          <a:lstStyle/>
          <a:p>
            <a:r>
              <a:rPr lang="en-US" sz="3200" b="1" dirty="0">
                <a:solidFill>
                  <a:srgbClr val="C00000"/>
                </a:solidFill>
                <a:latin typeface="Calibri" panose="020F0502020204030204" pitchFamily="34" charset="0"/>
              </a:rPr>
              <a:t>ABSTRACT</a:t>
            </a:r>
          </a:p>
        </p:txBody>
      </p:sp>
      <p:sp>
        <p:nvSpPr>
          <p:cNvPr id="7" name="TextBox 6"/>
          <p:cNvSpPr txBox="1"/>
          <p:nvPr/>
        </p:nvSpPr>
        <p:spPr>
          <a:xfrm>
            <a:off x="236110" y="1142400"/>
            <a:ext cx="8634095" cy="8052435"/>
          </a:xfrm>
          <a:prstGeom prst="rect">
            <a:avLst/>
          </a:prstGeom>
          <a:noFill/>
        </p:spPr>
        <p:txBody>
          <a:bodyPr wrap="square" rtlCol="0">
            <a:no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ea typeface="Times New Roman" panose="02020603050405020304" pitchFamily="18" charset="0"/>
              </a:rPr>
              <a:t>The world has seen 6-7 billion lives before us and all of them have made their significant contributions to the place we call our home. Most of these contributions are on record and quiet a lot go unregistered . These documents published often are full of jargon words and technical terminologies that might be intimidating to someone who may want to learn from their works .</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this project focuses on leveraging natural language processing (NLP) techniques to develop an automated text summarization system. The goal is to concisely distill extensive textual content, meeting the demand for efficient information consumption.</a:t>
            </a:r>
          </a:p>
          <a:p>
            <a:pPr algn="just">
              <a:lnSpc>
                <a:spcPct val="150000"/>
              </a:lnSpc>
            </a:pPr>
            <a:r>
              <a:rPr lang="en-US" sz="1800" dirty="0">
                <a:effectLst/>
                <a:latin typeface="Times New Roman" panose="02020603050405020304" pitchFamily="18" charset="0"/>
                <a:ea typeface="Times New Roman" panose="02020603050405020304" pitchFamily="18" charset="0"/>
              </a:rPr>
              <a:t>     The study explores diverse summarization methods, proposing a hybrid approach that</a:t>
            </a:r>
          </a:p>
          <a:p>
            <a:pPr algn="just">
              <a:lnSpc>
                <a:spcPct val="150000"/>
              </a:lnSpc>
            </a:pPr>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combines content extraction with context preservation. Advanced NLP techniques,</a:t>
            </a:r>
          </a:p>
          <a:p>
            <a:pPr algn="just">
              <a:lnSpc>
                <a:spcPct val="150000"/>
              </a:lnSpc>
            </a:pPr>
            <a:r>
              <a:rPr lang="en-US" sz="1800" dirty="0">
                <a:effectLst/>
                <a:latin typeface="Times New Roman" panose="02020603050405020304" pitchFamily="18" charset="0"/>
                <a:ea typeface="Times New Roman" panose="02020603050405020304" pitchFamily="18" charset="0"/>
              </a:rPr>
              <a:t>     including tokenization</a:t>
            </a:r>
          </a:p>
          <a:p>
            <a:pPr algn="just">
              <a:lnSpc>
                <a:spcPct val="150000"/>
              </a:lnSpc>
            </a:pPr>
            <a:r>
              <a:rPr lang="en-US" sz="1800" dirty="0">
                <a:effectLst/>
                <a:latin typeface="Times New Roman" panose="02020603050405020304" pitchFamily="18" charset="0"/>
                <a:ea typeface="Times New Roman" panose="02020603050405020304" pitchFamily="18" charset="0"/>
              </a:rPr>
              <a:t>     To validate the approach, a diverse dataset is annotated with</a:t>
            </a:r>
          </a:p>
          <a:p>
            <a:pPr algn="just">
              <a:lnSpc>
                <a:spcPct val="150000"/>
              </a:lnSpc>
            </a:pPr>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human-generated summaries.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I</a:t>
            </a:r>
            <a:r>
              <a:rPr lang="en-IN" sz="3200" b="1" dirty="0">
                <a:solidFill>
                  <a:srgbClr val="000000"/>
                </a:solidFill>
                <a:latin typeface="Arial Black" panose="020B0A04020102020204"/>
              </a:rPr>
              <a:t>NTRODUCTION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Introduction</a:t>
            </a:r>
            <a:endParaRPr>
              <a:solidFill>
                <a:srgbClr val="C00000"/>
              </a:solidFill>
            </a:endParaRPr>
          </a:p>
        </p:txBody>
      </p:sp>
      <p:sp>
        <p:nvSpPr>
          <p:cNvPr id="3" name="TextBox 2"/>
          <p:cNvSpPr txBox="1"/>
          <p:nvPr/>
        </p:nvSpPr>
        <p:spPr>
          <a:xfrm>
            <a:off x="609600" y="1730110"/>
            <a:ext cx="7924800" cy="2862322"/>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Times New Roman" panose="02020603050405020304" pitchFamily="18" charset="0"/>
              </a:rPr>
              <a:t>Information is abundant and found all around , sometimes the sheer amount of data can become abundant for anyone new and wants to learn from the research papers. Individuals often spend lot of time before they get to a the exact detail that they need </a:t>
            </a:r>
          </a:p>
          <a:p>
            <a:pPr marL="342900" indent="-342900" algn="just">
              <a:buFont typeface="Arial" panose="020B0604020202020204" pitchFamily="34" charset="0"/>
              <a:buChar char="•"/>
            </a:pPr>
            <a:r>
              <a:rPr lang="en-US" dirty="0">
                <a:latin typeface="Times New Roman" panose="02020603050405020304" pitchFamily="18" charset="0"/>
              </a:rPr>
              <a:t>To address these challenges and improve the time needed to make the information at our hand really useful , text summarization tool helps the users with the hassle of going through the pile of papers before choosing the one they actually need by using NLP and summarizing the research papers, documents, etc. and presenting information in byte sized passages which distill the information in those papers and save time of the 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Research Objective</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703962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Research Objective </a:t>
            </a:r>
            <a:endParaRPr dirty="0">
              <a:solidFill>
                <a:srgbClr val="C00000"/>
              </a:solidFill>
            </a:endParaRPr>
          </a:p>
        </p:txBody>
      </p:sp>
      <p:sp>
        <p:nvSpPr>
          <p:cNvPr id="3" name="TextBox 2">
            <a:extLst>
              <a:ext uri="{FF2B5EF4-FFF2-40B4-BE49-F238E27FC236}">
                <a16:creationId xmlns:a16="http://schemas.microsoft.com/office/drawing/2014/main" id="{02FDD73C-BD87-B673-12F8-F9DF13023DC2}"/>
              </a:ext>
            </a:extLst>
          </p:cNvPr>
          <p:cNvSpPr txBox="1"/>
          <p:nvPr/>
        </p:nvSpPr>
        <p:spPr>
          <a:xfrm>
            <a:off x="685800" y="1828800"/>
            <a:ext cx="7924800" cy="4247317"/>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 sophisticated and contextually aware text summarization system using the latest natural language processing (NLP) techniques, with an emphasis on improving extractive and abstractive summarization capabilities.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principal objective is to enhance the effectiveness, precision, and consistency of text summarization in many fields, taking into account variables like document length, linguistic subtleties, and user-specific needs. </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Investigate new methods for managing the summarizing of many documents and modifying the summarization model to accommodate different inputs. By tackling issues with automatic summary </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advance the field of natural language processing (NLP) and improve the efficiency and accessibility of information condensation across a range of applications, such as news aggregation and document summarization.</a:t>
            </a:r>
          </a:p>
        </p:txBody>
      </p:sp>
    </p:spTree>
    <p:extLst>
      <p:ext uri="{BB962C8B-B14F-4D97-AF65-F5344CB8AC3E}">
        <p14:creationId xmlns:p14="http://schemas.microsoft.com/office/powerpoint/2010/main" val="373935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Problem Definition </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37264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Problem Definition</a:t>
            </a:r>
            <a:endParaRPr dirty="0">
              <a:solidFill>
                <a:srgbClr val="C00000"/>
              </a:solidFill>
            </a:endParaRPr>
          </a:p>
        </p:txBody>
      </p:sp>
      <p:sp>
        <p:nvSpPr>
          <p:cNvPr id="3" name="TextBox 2"/>
          <p:cNvSpPr txBox="1"/>
          <p:nvPr/>
        </p:nvSpPr>
        <p:spPr>
          <a:xfrm>
            <a:off x="609600" y="1730110"/>
            <a:ext cx="7924800" cy="3970318"/>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Times New Roman" panose="02020603050405020304" pitchFamily="18" charset="0"/>
              </a:rPr>
              <a:t>Despite the increasing volume of information available, the efficient extraction of key content from large textual datasets remains a significant challenge. </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Existing text summarization tools face challenges in accurately and coherently summarizing large textual datasets, especially in the presence of diverse document structures, languages, and lengths.</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envisioned text summarization tool aims to be versatile, finding applications in diverse contexts such as document summarization, news aggregation, and content curation.</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overarching problem is to advance text summarization technology, overcoming current limitations and providing a more robust solution to distill essential information from varied and extensive textual sources.</a:t>
            </a:r>
          </a:p>
        </p:txBody>
      </p:sp>
    </p:spTree>
    <p:extLst>
      <p:ext uri="{BB962C8B-B14F-4D97-AF65-F5344CB8AC3E}">
        <p14:creationId xmlns:p14="http://schemas.microsoft.com/office/powerpoint/2010/main" val="2179222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Scope of the project </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716162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Scope of the project </a:t>
            </a:r>
            <a:endParaRPr dirty="0">
              <a:solidFill>
                <a:srgbClr val="C00000"/>
              </a:solidFill>
            </a:endParaRPr>
          </a:p>
        </p:txBody>
      </p:sp>
      <p:sp>
        <p:nvSpPr>
          <p:cNvPr id="3" name="TextBox 2"/>
          <p:cNvSpPr txBox="1"/>
          <p:nvPr/>
        </p:nvSpPr>
        <p:spPr>
          <a:xfrm>
            <a:off x="609600" y="1730110"/>
            <a:ext cx="7924800" cy="4247317"/>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Times New Roman" panose="02020603050405020304" pitchFamily="18" charset="0"/>
              </a:rPr>
              <a:t>Explore various possibilities of diverse datasets for text summarizer to learn form </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Implementation of various algorithms to provide both extractive as well as abstractive abilities to the tool.</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tool's scope encompasses user-centric features, allowing customization to meet individual preferences or specific requirements. This involves incorporating user feedback mechanisms and parameters to tailor the summarization output to user expectations..</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scope includes making sure the text summary tool may be used in a variety of fields, businesses, and topic areas. This entails building in mechanisms to comprehend and process context-specific jargon and information specific to various topic fields.</a:t>
            </a:r>
          </a:p>
        </p:txBody>
      </p:sp>
    </p:spTree>
    <p:extLst>
      <p:ext uri="{BB962C8B-B14F-4D97-AF65-F5344CB8AC3E}">
        <p14:creationId xmlns:p14="http://schemas.microsoft.com/office/powerpoint/2010/main" val="405713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3200" b="1" dirty="0">
                <a:solidFill>
                  <a:srgbClr val="000000"/>
                </a:solidFill>
                <a:latin typeface="Bookman Old Style" pitchFamily="18" charset="0"/>
              </a:rPr>
              <a:t>Literature Review</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508252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AEFB-457F-601E-D3C6-1328A87DA87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D387DA9-FA13-8515-C062-6C4AC0FCD0EE}"/>
              </a:ext>
            </a:extLst>
          </p:cNvPr>
          <p:cNvSpPr>
            <a:spLocks noGrp="1"/>
          </p:cNvSpPr>
          <p:nvPr>
            <p:ph type="body"/>
          </p:nvPr>
        </p:nvSpPr>
        <p:spPr/>
        <p:txBody>
          <a:bodyPr/>
          <a:lstStyle/>
          <a:p>
            <a:endParaRPr lang="en-US" dirty="0"/>
          </a:p>
        </p:txBody>
      </p:sp>
      <p:sp>
        <p:nvSpPr>
          <p:cNvPr id="4" name="TextBox 3">
            <a:extLst>
              <a:ext uri="{FF2B5EF4-FFF2-40B4-BE49-F238E27FC236}">
                <a16:creationId xmlns:a16="http://schemas.microsoft.com/office/drawing/2014/main" id="{CD5C885B-EBE6-F155-BDE5-1E11DF1C0898}"/>
              </a:ext>
            </a:extLst>
          </p:cNvPr>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2">
            <a:extLst>
              <a:ext uri="{FF2B5EF4-FFF2-40B4-BE49-F238E27FC236}">
                <a16:creationId xmlns:a16="http://schemas.microsoft.com/office/drawing/2014/main" id="{FA5766E6-314F-CEE2-3849-41F4CB62EBA9}"/>
              </a:ext>
            </a:extLst>
          </p:cNvPr>
          <p:cNvGraphicFramePr>
            <a:graphicFrameLocks noGrp="1"/>
          </p:cNvGraphicFramePr>
          <p:nvPr>
            <p:extLst>
              <p:ext uri="{D42A27DB-BD31-4B8C-83A1-F6EECF244321}">
                <p14:modId xmlns:p14="http://schemas.microsoft.com/office/powerpoint/2010/main" val="3908526373"/>
              </p:ext>
            </p:extLst>
          </p:nvPr>
        </p:nvGraphicFramePr>
        <p:xfrm>
          <a:off x="59636" y="381000"/>
          <a:ext cx="8991600" cy="6568863"/>
        </p:xfrm>
        <a:graphic>
          <a:graphicData uri="http://schemas.openxmlformats.org/drawingml/2006/table">
            <a:tbl>
              <a:tblPr firstRow="1" bandRow="1">
                <a:tableStyleId>{5C22544A-7EE6-4342-B048-85BDC9FD1C3A}</a:tableStyleId>
              </a:tblPr>
              <a:tblGrid>
                <a:gridCol w="580103">
                  <a:extLst>
                    <a:ext uri="{9D8B030D-6E8A-4147-A177-3AD203B41FA5}">
                      <a16:colId xmlns:a16="http://schemas.microsoft.com/office/drawing/2014/main" val="432745929"/>
                    </a:ext>
                  </a:extLst>
                </a:gridCol>
                <a:gridCol w="1128818">
                  <a:extLst>
                    <a:ext uri="{9D8B030D-6E8A-4147-A177-3AD203B41FA5}">
                      <a16:colId xmlns:a16="http://schemas.microsoft.com/office/drawing/2014/main" val="1998233565"/>
                    </a:ext>
                  </a:extLst>
                </a:gridCol>
                <a:gridCol w="1096475">
                  <a:extLst>
                    <a:ext uri="{9D8B030D-6E8A-4147-A177-3AD203B41FA5}">
                      <a16:colId xmlns:a16="http://schemas.microsoft.com/office/drawing/2014/main" val="3760181125"/>
                    </a:ext>
                  </a:extLst>
                </a:gridCol>
                <a:gridCol w="1918301">
                  <a:extLst>
                    <a:ext uri="{9D8B030D-6E8A-4147-A177-3AD203B41FA5}">
                      <a16:colId xmlns:a16="http://schemas.microsoft.com/office/drawing/2014/main" val="1470764825"/>
                    </a:ext>
                  </a:extLst>
                </a:gridCol>
                <a:gridCol w="1978637">
                  <a:extLst>
                    <a:ext uri="{9D8B030D-6E8A-4147-A177-3AD203B41FA5}">
                      <a16:colId xmlns:a16="http://schemas.microsoft.com/office/drawing/2014/main" val="3423994347"/>
                    </a:ext>
                  </a:extLst>
                </a:gridCol>
                <a:gridCol w="2289266">
                  <a:extLst>
                    <a:ext uri="{9D8B030D-6E8A-4147-A177-3AD203B41FA5}">
                      <a16:colId xmlns:a16="http://schemas.microsoft.com/office/drawing/2014/main" val="635663868"/>
                    </a:ext>
                  </a:extLst>
                </a:gridCol>
              </a:tblGrid>
              <a:tr h="899583">
                <a:tc>
                  <a:txBody>
                    <a:bodyPr/>
                    <a:lstStyle/>
                    <a:p>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889125">
                <a:tc>
                  <a:txBody>
                    <a:bodyPr/>
                    <a:lstStyle/>
                    <a:p>
                      <a:r>
                        <a:rPr lang="en-US" dirty="0"/>
                        <a:t>1</a:t>
                      </a:r>
                      <a:endParaRPr lang="en-IN" dirty="0"/>
                    </a:p>
                  </a:txBody>
                  <a:tcPr/>
                </a:tc>
                <a:tc>
                  <a:txBody>
                    <a:bodyPr/>
                    <a:lstStyle/>
                    <a:p>
                      <a:r>
                        <a:rPr lang="en-US" sz="1000" b="0" i="0" dirty="0">
                          <a:solidFill>
                            <a:schemeClr val="dk1"/>
                          </a:solidFill>
                          <a:effectLst/>
                          <a:latin typeface="+mn-lt"/>
                          <a:ea typeface="+mn-ea"/>
                          <a:cs typeface="+mn-cs"/>
                        </a:rPr>
                        <a:t>Rahul,</a:t>
                      </a:r>
                    </a:p>
                    <a:p>
                      <a:r>
                        <a:rPr lang="en-US" sz="1000" b="0" i="0" dirty="0">
                          <a:solidFill>
                            <a:schemeClr val="dk1"/>
                          </a:solidFill>
                          <a:effectLst/>
                          <a:latin typeface="+mn-lt"/>
                          <a:ea typeface="+mn-ea"/>
                          <a:cs typeface="+mn-cs"/>
                        </a:rPr>
                        <a:t>Saurabh Adhikari</a:t>
                      </a:r>
                    </a:p>
                    <a:p>
                      <a:r>
                        <a:rPr lang="en-US" sz="1000" b="0" i="0" dirty="0">
                          <a:solidFill>
                            <a:schemeClr val="dk1"/>
                          </a:solidFill>
                          <a:effectLst/>
                          <a:latin typeface="+mn-lt"/>
                          <a:ea typeface="+mn-ea"/>
                          <a:cs typeface="+mn-cs"/>
                        </a:rPr>
                        <a:t>Monika  2020 Fourth International Conference on Computing Methodologies and Communication, 2020</a:t>
                      </a:r>
                      <a:endParaRPr lang="en-IN" sz="1000" dirty="0"/>
                    </a:p>
                  </a:txBody>
                  <a:tcPr/>
                </a:tc>
                <a:tc>
                  <a:txBody>
                    <a:bodyPr/>
                    <a:lstStyle/>
                    <a:p>
                      <a:r>
                        <a:rPr lang="en-US" sz="1000" b="0" i="0" dirty="0">
                          <a:solidFill>
                            <a:schemeClr val="dk1"/>
                          </a:solidFill>
                          <a:effectLst/>
                          <a:latin typeface="+mn-lt"/>
                          <a:ea typeface="+mn-ea"/>
                          <a:cs typeface="+mn-cs"/>
                        </a:rPr>
                        <a:t>NLP based Machine Learning Approaches for Text Summarization</a:t>
                      </a:r>
                      <a:endParaRPr lang="en-IN" sz="1000" dirty="0"/>
                    </a:p>
                  </a:txBody>
                  <a:tcPr/>
                </a:tc>
                <a:tc>
                  <a:txBody>
                    <a:bodyPr/>
                    <a:lstStyle/>
                    <a:p>
                      <a:r>
                        <a:rPr lang="en-US" sz="1000" b="0" i="0" dirty="0">
                          <a:solidFill>
                            <a:schemeClr val="dk1"/>
                          </a:solidFill>
                          <a:effectLst/>
                          <a:latin typeface="+mn-lt"/>
                          <a:ea typeface="+mn-ea"/>
                          <a:cs typeface="+mn-cs"/>
                        </a:rPr>
                        <a:t>The methods described in this paper produce Abstractive (ABS) or Extractive (EXT) summaries of text documents. Query-based summarization techniques are also discussed.</a:t>
                      </a:r>
                      <a:endParaRPr lang="en-IN" sz="1000" dirty="0"/>
                    </a:p>
                  </a:txBody>
                  <a:tcPr/>
                </a:tc>
                <a:tc>
                  <a:txBody>
                    <a:bodyPr/>
                    <a:lstStyle/>
                    <a:p>
                      <a:r>
                        <a:rPr lang="en-US" sz="1000" b="0" i="0" dirty="0">
                          <a:solidFill>
                            <a:schemeClr val="dk1"/>
                          </a:solidFill>
                          <a:effectLst/>
                          <a:latin typeface="+mn-lt"/>
                          <a:ea typeface="+mn-ea"/>
                          <a:cs typeface="+mn-cs"/>
                        </a:rPr>
                        <a:t>The paper discusses the structured based and semantic based approaches for summarization of the text documents</a:t>
                      </a:r>
                      <a:endParaRPr lang="en-IN" sz="1000" dirty="0"/>
                    </a:p>
                  </a:txBody>
                  <a:tcPr/>
                </a:tc>
                <a:tc>
                  <a:txBody>
                    <a:bodyPr/>
                    <a:lstStyle/>
                    <a:p>
                      <a:r>
                        <a:rPr lang="en-US" sz="1000" b="0" i="0" dirty="0">
                          <a:solidFill>
                            <a:schemeClr val="dk1"/>
                          </a:solidFill>
                          <a:effectLst/>
                          <a:latin typeface="+mn-lt"/>
                          <a:ea typeface="+mn-ea"/>
                          <a:cs typeface="+mn-cs"/>
                        </a:rPr>
                        <a:t>The paper concludes by mentioning the focus on both abstractive and extractive summarization methods is good. It suggests a broad exploration of techniques, considering both the extraction of existing sentences and the generation of new ones..</a:t>
                      </a:r>
                      <a:endParaRPr lang="en-IN" sz="1000" dirty="0"/>
                    </a:p>
                  </a:txBody>
                  <a:tcPr/>
                </a:tc>
                <a:extLst>
                  <a:ext uri="{0D108BD9-81ED-4DB2-BD59-A6C34878D82A}">
                    <a16:rowId xmlns:a16="http://schemas.microsoft.com/office/drawing/2014/main" val="3097843794"/>
                  </a:ext>
                </a:extLst>
              </a:tr>
              <a:tr h="1439333">
                <a:tc>
                  <a:txBody>
                    <a:bodyPr/>
                    <a:lstStyle/>
                    <a:p>
                      <a:r>
                        <a:rPr lang="en-US" dirty="0"/>
                        <a:t>2</a:t>
                      </a:r>
                      <a:endParaRPr lang="en-IN" dirty="0"/>
                    </a:p>
                  </a:txBody>
                  <a:tcPr/>
                </a:tc>
                <a:tc>
                  <a:txBody>
                    <a:bodyPr/>
                    <a:lstStyle/>
                    <a:p>
                      <a:r>
                        <a:rPr lang="en-US" sz="1000" b="0" i="0" dirty="0">
                          <a:solidFill>
                            <a:schemeClr val="dk1"/>
                          </a:solidFill>
                          <a:effectLst/>
                          <a:latin typeface="+mn-lt"/>
                          <a:ea typeface="+mn-ea"/>
                          <a:cs typeface="+mn-cs"/>
                        </a:rPr>
                        <a:t>Farzad </a:t>
                      </a:r>
                      <a:r>
                        <a:rPr lang="en-US" sz="1000" b="0" i="0" dirty="0" err="1">
                          <a:solidFill>
                            <a:schemeClr val="dk1"/>
                          </a:solidFill>
                          <a:effectLst/>
                          <a:latin typeface="+mn-lt"/>
                          <a:ea typeface="+mn-ea"/>
                          <a:cs typeface="+mn-cs"/>
                        </a:rPr>
                        <a:t>Kiyani</a:t>
                      </a:r>
                      <a:endParaRPr lang="en-US" sz="1000" b="0" i="0" dirty="0">
                        <a:solidFill>
                          <a:schemeClr val="dk1"/>
                        </a:solidFill>
                        <a:effectLst/>
                        <a:latin typeface="+mn-lt"/>
                        <a:ea typeface="+mn-ea"/>
                        <a:cs typeface="+mn-cs"/>
                      </a:endParaRPr>
                    </a:p>
                    <a:p>
                      <a:r>
                        <a:rPr lang="en-US" sz="1000" b="0" i="0" dirty="0">
                          <a:solidFill>
                            <a:schemeClr val="dk1"/>
                          </a:solidFill>
                          <a:effectLst/>
                          <a:latin typeface="+mn-lt"/>
                          <a:ea typeface="+mn-ea"/>
                          <a:cs typeface="+mn-cs"/>
                        </a:rPr>
                        <a:t>Press Academia Procedia 205-213</a:t>
                      </a:r>
                    </a:p>
                    <a:p>
                      <a:r>
                        <a:rPr lang="en-US" sz="1000" b="0" i="0" dirty="0">
                          <a:solidFill>
                            <a:schemeClr val="dk1"/>
                          </a:solidFill>
                          <a:effectLst/>
                          <a:latin typeface="+mn-lt"/>
                          <a:ea typeface="+mn-ea"/>
                          <a:cs typeface="+mn-cs"/>
                        </a:rPr>
                        <a:t>(2017)</a:t>
                      </a:r>
                      <a:endParaRPr lang="en-IN" sz="1000" dirty="0"/>
                    </a:p>
                  </a:txBody>
                  <a:tcPr/>
                </a:tc>
                <a:tc>
                  <a:txBody>
                    <a:bodyPr/>
                    <a:lstStyle/>
                    <a:p>
                      <a:r>
                        <a:rPr lang="en-US" sz="1000" dirty="0"/>
                        <a:t>A SURVEY AUTOMATIC TEXT SUMMARIZATION</a:t>
                      </a:r>
                      <a:endParaRPr lang="en-IN" sz="1000" dirty="0"/>
                    </a:p>
                  </a:txBody>
                  <a:tcPr/>
                </a:tc>
                <a:tc>
                  <a:txBody>
                    <a:bodyPr/>
                    <a:lstStyle/>
                    <a:p>
                      <a:r>
                        <a:rPr lang="en-US" sz="1000" dirty="0"/>
                        <a:t>A SURVEY AUTOMATIC TEXT SUMMARIZATION using NLP and Stastical approach</a:t>
                      </a:r>
                      <a:endParaRPr lang="en-IN" sz="1000" dirty="0"/>
                    </a:p>
                  </a:txBody>
                  <a:tcPr/>
                </a:tc>
                <a:tc>
                  <a:txBody>
                    <a:bodyPr/>
                    <a:lstStyle/>
                    <a:p>
                      <a:r>
                        <a:rPr lang="en-US" sz="1000" b="0" i="0" dirty="0">
                          <a:solidFill>
                            <a:schemeClr val="dk1"/>
                          </a:solidFill>
                          <a:effectLst/>
                          <a:latin typeface="+mn-lt"/>
                          <a:ea typeface="+mn-ea"/>
                          <a:cs typeface="+mn-cs"/>
                        </a:rPr>
                        <a:t>The text mentions that the paper provides a comparative study of various text summarization techniques. This sets a clear expectation for readers regarding the paper's focus and goal.. </a:t>
                      </a:r>
                      <a:endParaRPr lang="en-IN" sz="1000" dirty="0"/>
                    </a:p>
                  </a:txBody>
                  <a:tcPr/>
                </a:tc>
                <a:tc>
                  <a:txBody>
                    <a:bodyPr/>
                    <a:lstStyle/>
                    <a:p>
                      <a:r>
                        <a:rPr lang="en-US" sz="1000" b="0" i="0" dirty="0">
                          <a:solidFill>
                            <a:schemeClr val="dk1"/>
                          </a:solidFill>
                          <a:effectLst/>
                          <a:latin typeface="+mn-lt"/>
                          <a:ea typeface="+mn-ea"/>
                          <a:cs typeface="+mn-cs"/>
                        </a:rPr>
                        <a:t>The explanation of extractive summarization is concise and highlights the method's reliance on selecting high-ranking sentences based on word and sentence features. The consideration of statistical and linguistic features for sentence importance adds depth to the explanation.</a:t>
                      </a:r>
                      <a:endParaRPr lang="en-IN" sz="1000" dirty="0"/>
                    </a:p>
                  </a:txBody>
                  <a:tcPr/>
                </a:tc>
                <a:extLst>
                  <a:ext uri="{0D108BD9-81ED-4DB2-BD59-A6C34878D82A}">
                    <a16:rowId xmlns:a16="http://schemas.microsoft.com/office/drawing/2014/main" val="3396774005"/>
                  </a:ext>
                </a:extLst>
              </a:tr>
              <a:tr h="1889125">
                <a:tc>
                  <a:txBody>
                    <a:bodyPr/>
                    <a:lstStyle/>
                    <a:p>
                      <a:r>
                        <a:rPr lang="en-US" dirty="0"/>
                        <a:t>3</a:t>
                      </a:r>
                      <a:endParaRPr lang="en-IN" dirty="0"/>
                    </a:p>
                  </a:txBody>
                  <a:tcPr/>
                </a:tc>
                <a:tc>
                  <a:txBody>
                    <a:bodyPr/>
                    <a:lstStyle/>
                    <a:p>
                      <a:r>
                        <a:rPr lang="en-US" sz="1000" b="0" i="0" dirty="0" err="1">
                          <a:solidFill>
                            <a:schemeClr val="dk1"/>
                          </a:solidFill>
                          <a:effectLst/>
                          <a:latin typeface="+mn-lt"/>
                          <a:ea typeface="+mn-ea"/>
                          <a:cs typeface="+mn-cs"/>
                        </a:rPr>
                        <a:t>Kiaz</a:t>
                      </a:r>
                      <a:r>
                        <a:rPr lang="en-US" sz="1000" b="0" i="0" dirty="0">
                          <a:solidFill>
                            <a:schemeClr val="dk1"/>
                          </a:solidFill>
                          <a:effectLst/>
                          <a:latin typeface="+mn-lt"/>
                          <a:ea typeface="+mn-ea"/>
                          <a:cs typeface="+mn-cs"/>
                        </a:rPr>
                        <a:t> Merchant,</a:t>
                      </a:r>
                    </a:p>
                    <a:p>
                      <a:r>
                        <a:rPr lang="en-US" sz="1000" b="0" i="0" dirty="0">
                          <a:solidFill>
                            <a:schemeClr val="dk1"/>
                          </a:solidFill>
                          <a:effectLst/>
                          <a:latin typeface="+mn-lt"/>
                          <a:ea typeface="+mn-ea"/>
                          <a:cs typeface="+mn-cs"/>
                        </a:rPr>
                        <a:t>Yash Pandey  </a:t>
                      </a:r>
                      <a:r>
                        <a:rPr lang="en-US" sz="1000" b="0" i="0" dirty="0" err="1">
                          <a:solidFill>
                            <a:schemeClr val="dk1"/>
                          </a:solidFill>
                          <a:effectLst/>
                          <a:latin typeface="+mn-lt"/>
                          <a:ea typeface="+mn-ea"/>
                          <a:cs typeface="+mn-cs"/>
                        </a:rPr>
                        <a:t>Gangey</a:t>
                      </a:r>
                      <a:r>
                        <a:rPr lang="en-US" sz="1000" b="0" i="0" dirty="0">
                          <a:solidFill>
                            <a:schemeClr val="dk1"/>
                          </a:solidFill>
                          <a:effectLst/>
                          <a:latin typeface="+mn-lt"/>
                          <a:ea typeface="+mn-ea"/>
                          <a:cs typeface="+mn-cs"/>
                        </a:rPr>
                        <a:t> Mishra, 2018 International Conference on Advances in Computing, Communications and Informatics, Vol. 8, Issue 4, September 2018</a:t>
                      </a:r>
                      <a:endParaRPr lang="en-IN" sz="1000" dirty="0"/>
                    </a:p>
                  </a:txBody>
                  <a:tcPr/>
                </a:tc>
                <a:tc>
                  <a:txBody>
                    <a:bodyPr/>
                    <a:lstStyle/>
                    <a:p>
                      <a:r>
                        <a:rPr lang="en-US" sz="1000" b="0" i="0" dirty="0">
                          <a:solidFill>
                            <a:schemeClr val="dk1"/>
                          </a:solidFill>
                          <a:effectLst/>
                          <a:latin typeface="+mn-lt"/>
                          <a:ea typeface="+mn-ea"/>
                          <a:cs typeface="+mn-cs"/>
                        </a:rPr>
                        <a:t>NLP Based Latent Semantic Analysis for Legal Text Summarization</a:t>
                      </a:r>
                      <a:endParaRPr lang="en-IN" sz="1000" dirty="0"/>
                    </a:p>
                  </a:txBody>
                  <a:tcPr/>
                </a:tc>
                <a:tc>
                  <a:txBody>
                    <a:bodyPr/>
                    <a:lstStyle/>
                    <a:p>
                      <a:r>
                        <a:rPr lang="en-IN" sz="1000" dirty="0"/>
                        <a:t>Latent Semantic analysis</a:t>
                      </a:r>
                    </a:p>
                  </a:txBody>
                  <a:tcPr/>
                </a:tc>
                <a:tc>
                  <a:txBody>
                    <a:bodyPr/>
                    <a:lstStyle/>
                    <a:p>
                      <a:r>
                        <a:rPr lang="en-US" sz="1000" b="0" i="0" dirty="0">
                          <a:solidFill>
                            <a:schemeClr val="dk1"/>
                          </a:solidFill>
                          <a:effectLst/>
                          <a:latin typeface="+mn-lt"/>
                          <a:ea typeface="+mn-ea"/>
                          <a:cs typeface="+mn-cs"/>
                        </a:rPr>
                        <a:t>The mention of using latent semantic analysis (LSA), a natural language processing technique, demonstrates a commitment to employing advanced technologies for information extraction..</a:t>
                      </a:r>
                      <a:endParaRPr lang="en-IN" sz="1000" dirty="0"/>
                    </a:p>
                  </a:txBody>
                  <a:tcPr/>
                </a:tc>
                <a:tc>
                  <a:txBody>
                    <a:bodyPr/>
                    <a:lstStyle/>
                    <a:p>
                      <a:r>
                        <a:rPr lang="en-US" sz="1000" b="0" i="0" dirty="0">
                          <a:solidFill>
                            <a:schemeClr val="dk1"/>
                          </a:solidFill>
                          <a:effectLst/>
                          <a:latin typeface="+mn-lt"/>
                          <a:ea typeface="+mn-ea"/>
                          <a:cs typeface="+mn-cs"/>
                        </a:rPr>
                        <a:t>The inclusion of two approaches, a single document untrained approach and a multi-document trained approach based on case types (criminal or civil), showcases adaptability to different scenarios. This tailored approach indicates a thoughtful consideration of the diverse nature of legal documents..</a:t>
                      </a:r>
                      <a:endParaRPr lang="en-IN" sz="1000" dirty="0"/>
                    </a:p>
                  </a:txBody>
                  <a:tcPr/>
                </a:tc>
                <a:extLst>
                  <a:ext uri="{0D108BD9-81ED-4DB2-BD59-A6C34878D82A}">
                    <a16:rowId xmlns:a16="http://schemas.microsoft.com/office/drawing/2014/main" val="715288033"/>
                  </a:ext>
                </a:extLst>
              </a:tr>
              <a:tr h="359833">
                <a:tc>
                  <a:txBody>
                    <a:bodyPr/>
                    <a:lstStyle/>
                    <a:p>
                      <a:endParaRPr lang="en-IN"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extLst>
                  <a:ext uri="{0D108BD9-81ED-4DB2-BD59-A6C34878D82A}">
                    <a16:rowId xmlns:a16="http://schemas.microsoft.com/office/drawing/2014/main" val="3764279788"/>
                  </a:ext>
                </a:extLst>
              </a:tr>
            </a:tbl>
          </a:graphicData>
        </a:graphic>
      </p:graphicFrame>
    </p:spTree>
    <p:extLst>
      <p:ext uri="{BB962C8B-B14F-4D97-AF65-F5344CB8AC3E}">
        <p14:creationId xmlns:p14="http://schemas.microsoft.com/office/powerpoint/2010/main" val="1667379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AEFB-457F-601E-D3C6-1328A87DA87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D387DA9-FA13-8515-C062-6C4AC0FCD0EE}"/>
              </a:ext>
            </a:extLst>
          </p:cNvPr>
          <p:cNvSpPr>
            <a:spLocks noGrp="1"/>
          </p:cNvSpPr>
          <p:nvPr>
            <p:ph type="body"/>
          </p:nvPr>
        </p:nvSpPr>
        <p:spPr/>
        <p:txBody>
          <a:bodyPr/>
          <a:lstStyle/>
          <a:p>
            <a:endParaRPr lang="en-US" dirty="0"/>
          </a:p>
        </p:txBody>
      </p:sp>
      <p:sp>
        <p:nvSpPr>
          <p:cNvPr id="4" name="TextBox 3">
            <a:extLst>
              <a:ext uri="{FF2B5EF4-FFF2-40B4-BE49-F238E27FC236}">
                <a16:creationId xmlns:a16="http://schemas.microsoft.com/office/drawing/2014/main" id="{CD5C885B-EBE6-F155-BDE5-1E11DF1C0898}"/>
              </a:ext>
            </a:extLst>
          </p:cNvPr>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2">
            <a:extLst>
              <a:ext uri="{FF2B5EF4-FFF2-40B4-BE49-F238E27FC236}">
                <a16:creationId xmlns:a16="http://schemas.microsoft.com/office/drawing/2014/main" id="{FA5766E6-314F-CEE2-3849-41F4CB62EBA9}"/>
              </a:ext>
            </a:extLst>
          </p:cNvPr>
          <p:cNvGraphicFramePr>
            <a:graphicFrameLocks noGrp="1"/>
          </p:cNvGraphicFramePr>
          <p:nvPr>
            <p:extLst>
              <p:ext uri="{D42A27DB-BD31-4B8C-83A1-F6EECF244321}">
                <p14:modId xmlns:p14="http://schemas.microsoft.com/office/powerpoint/2010/main" val="3575407667"/>
              </p:ext>
            </p:extLst>
          </p:nvPr>
        </p:nvGraphicFramePr>
        <p:xfrm>
          <a:off x="59636" y="381001"/>
          <a:ext cx="8991600" cy="8076649"/>
        </p:xfrm>
        <a:graphic>
          <a:graphicData uri="http://schemas.openxmlformats.org/drawingml/2006/table">
            <a:tbl>
              <a:tblPr firstRow="1" bandRow="1">
                <a:tableStyleId>{5C22544A-7EE6-4342-B048-85BDC9FD1C3A}</a:tableStyleId>
              </a:tblPr>
              <a:tblGrid>
                <a:gridCol w="580103">
                  <a:extLst>
                    <a:ext uri="{9D8B030D-6E8A-4147-A177-3AD203B41FA5}">
                      <a16:colId xmlns:a16="http://schemas.microsoft.com/office/drawing/2014/main" val="432745929"/>
                    </a:ext>
                  </a:extLst>
                </a:gridCol>
                <a:gridCol w="1128818">
                  <a:extLst>
                    <a:ext uri="{9D8B030D-6E8A-4147-A177-3AD203B41FA5}">
                      <a16:colId xmlns:a16="http://schemas.microsoft.com/office/drawing/2014/main" val="1998233565"/>
                    </a:ext>
                  </a:extLst>
                </a:gridCol>
                <a:gridCol w="1096475">
                  <a:extLst>
                    <a:ext uri="{9D8B030D-6E8A-4147-A177-3AD203B41FA5}">
                      <a16:colId xmlns:a16="http://schemas.microsoft.com/office/drawing/2014/main" val="3760181125"/>
                    </a:ext>
                  </a:extLst>
                </a:gridCol>
                <a:gridCol w="1918301">
                  <a:extLst>
                    <a:ext uri="{9D8B030D-6E8A-4147-A177-3AD203B41FA5}">
                      <a16:colId xmlns:a16="http://schemas.microsoft.com/office/drawing/2014/main" val="1470764825"/>
                    </a:ext>
                  </a:extLst>
                </a:gridCol>
                <a:gridCol w="1978637">
                  <a:extLst>
                    <a:ext uri="{9D8B030D-6E8A-4147-A177-3AD203B41FA5}">
                      <a16:colId xmlns:a16="http://schemas.microsoft.com/office/drawing/2014/main" val="3423994347"/>
                    </a:ext>
                  </a:extLst>
                </a:gridCol>
                <a:gridCol w="2289266">
                  <a:extLst>
                    <a:ext uri="{9D8B030D-6E8A-4147-A177-3AD203B41FA5}">
                      <a16:colId xmlns:a16="http://schemas.microsoft.com/office/drawing/2014/main" val="635663868"/>
                    </a:ext>
                  </a:extLst>
                </a:gridCol>
              </a:tblGrid>
              <a:tr h="799151">
                <a:tc>
                  <a:txBody>
                    <a:bodyPr/>
                    <a:lstStyle/>
                    <a:p>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811409">
                <a:tc>
                  <a:txBody>
                    <a:bodyPr/>
                    <a:lstStyle/>
                    <a:p>
                      <a:r>
                        <a:rPr lang="en-US" dirty="0"/>
                        <a:t>4</a:t>
                      </a:r>
                      <a:endParaRPr lang="en-IN" dirty="0"/>
                    </a:p>
                  </a:txBody>
                  <a:tcPr/>
                </a:tc>
                <a:tc>
                  <a:txBody>
                    <a:bodyPr/>
                    <a:lstStyle/>
                    <a:p>
                      <a:r>
                        <a:rPr lang="en-US" sz="1000" b="0" i="0" dirty="0" err="1">
                          <a:solidFill>
                            <a:schemeClr val="dk1"/>
                          </a:solidFill>
                          <a:effectLst/>
                          <a:latin typeface="+mn-lt"/>
                          <a:ea typeface="+mn-ea"/>
                          <a:cs typeface="+mn-cs"/>
                        </a:rPr>
                        <a:t>Ishitva</a:t>
                      </a:r>
                      <a:r>
                        <a:rPr lang="en-US" sz="1000" b="0" i="0" dirty="0">
                          <a:solidFill>
                            <a:schemeClr val="dk1"/>
                          </a:solidFill>
                          <a:effectLst/>
                          <a:latin typeface="+mn-lt"/>
                          <a:ea typeface="+mn-ea"/>
                          <a:cs typeface="+mn-cs"/>
                        </a:rPr>
                        <a:t> Avasthi,</a:t>
                      </a:r>
                    </a:p>
                    <a:p>
                      <a:r>
                        <a:rPr lang="en-US" sz="1000" b="0" i="0" dirty="0">
                          <a:solidFill>
                            <a:schemeClr val="dk1"/>
                          </a:solidFill>
                          <a:effectLst/>
                          <a:latin typeface="+mn-lt"/>
                          <a:ea typeface="+mn-ea"/>
                          <a:cs typeface="+mn-cs"/>
                        </a:rPr>
                        <a:t>Kuntal Gupta,</a:t>
                      </a:r>
                    </a:p>
                    <a:p>
                      <a:r>
                        <a:rPr lang="en-US" sz="1000" b="0" i="0" dirty="0">
                          <a:solidFill>
                            <a:schemeClr val="dk1"/>
                          </a:solidFill>
                          <a:effectLst/>
                          <a:latin typeface="+mn-lt"/>
                          <a:ea typeface="+mn-ea"/>
                          <a:cs typeface="+mn-cs"/>
                        </a:rPr>
                        <a:t>Prabjot Singh </a:t>
                      </a:r>
                      <a:r>
                        <a:rPr lang="en-US" sz="1000" b="0" i="0" dirty="0" err="1">
                          <a:solidFill>
                            <a:schemeClr val="dk1"/>
                          </a:solidFill>
                          <a:effectLst/>
                          <a:latin typeface="+mn-lt"/>
                          <a:ea typeface="+mn-ea"/>
                          <a:cs typeface="+mn-cs"/>
                        </a:rPr>
                        <a:t>Bhogal</a:t>
                      </a:r>
                      <a:r>
                        <a:rPr lang="en-US" sz="1000" b="0" i="0" dirty="0">
                          <a:solidFill>
                            <a:schemeClr val="dk1"/>
                          </a:solidFill>
                          <a:effectLst/>
                          <a:latin typeface="+mn-lt"/>
                          <a:ea typeface="+mn-ea"/>
                          <a:cs typeface="+mn-cs"/>
                        </a:rPr>
                        <a:t> ,</a:t>
                      </a:r>
                    </a:p>
                    <a:p>
                      <a:r>
                        <a:rPr lang="en-US" sz="1000" b="0" i="0" dirty="0">
                          <a:solidFill>
                            <a:schemeClr val="dk1"/>
                          </a:solidFill>
                          <a:effectLst/>
                          <a:latin typeface="+mn-lt"/>
                          <a:ea typeface="+mn-ea"/>
                          <a:cs typeface="+mn-cs"/>
                        </a:rPr>
                        <a:t>2021 6th International Conference on Inventive Computation Technologies (ICICT)</a:t>
                      </a:r>
                      <a:endParaRPr lang="en-IN" sz="1000" dirty="0"/>
                    </a:p>
                  </a:txBody>
                  <a:tcPr/>
                </a:tc>
                <a:tc>
                  <a:txBody>
                    <a:bodyPr/>
                    <a:lstStyle/>
                    <a:p>
                      <a:r>
                        <a:rPr lang="en-US" sz="1000" b="0" i="0" dirty="0">
                          <a:solidFill>
                            <a:schemeClr val="dk1"/>
                          </a:solidFill>
                          <a:effectLst/>
                          <a:latin typeface="+mn-lt"/>
                          <a:ea typeface="+mn-ea"/>
                          <a:cs typeface="+mn-cs"/>
                        </a:rPr>
                        <a:t>Natural Language Processing (NLP) based Text Summarization</a:t>
                      </a:r>
                      <a:endParaRPr lang="en-IN" sz="1000" dirty="0"/>
                    </a:p>
                  </a:txBody>
                  <a:tcPr/>
                </a:tc>
                <a:tc>
                  <a:txBody>
                    <a:bodyPr/>
                    <a:lstStyle/>
                    <a:p>
                      <a:r>
                        <a:rPr lang="en-US" sz="1000" b="0" i="0" dirty="0">
                          <a:solidFill>
                            <a:schemeClr val="dk1"/>
                          </a:solidFill>
                          <a:effectLst/>
                          <a:latin typeface="+mn-lt"/>
                          <a:ea typeface="+mn-ea"/>
                          <a:cs typeface="+mn-cs"/>
                        </a:rPr>
                        <a:t>The purpose of text summarization as a technique to reduce documents to their main ideas is clearly articulated. This helps convey the goal of summarization, which is to distill essential information from large amounts of text..</a:t>
                      </a:r>
                      <a:endParaRPr lang="en-IN" sz="1000" dirty="0"/>
                    </a:p>
                  </a:txBody>
                  <a:tcPr/>
                </a:tc>
                <a:tc>
                  <a:txBody>
                    <a:bodyPr/>
                    <a:lstStyle/>
                    <a:p>
                      <a:r>
                        <a:rPr lang="en-US" sz="1000" b="0" i="0" dirty="0">
                          <a:solidFill>
                            <a:schemeClr val="dk1"/>
                          </a:solidFill>
                          <a:effectLst/>
                          <a:latin typeface="+mn-lt"/>
                          <a:ea typeface="+mn-ea"/>
                          <a:cs typeface="+mn-cs"/>
                        </a:rPr>
                        <a:t>The text appropriately introduces the two primary categories of text summarization, namely extractive and abstractive methods. This provides readers with a fundamental understanding of the approaches used in summarization.</a:t>
                      </a:r>
                      <a:endParaRPr lang="en-IN" sz="1000" dirty="0"/>
                    </a:p>
                  </a:txBody>
                  <a:tcPr/>
                </a:tc>
                <a:tc>
                  <a:txBody>
                    <a:bodyPr/>
                    <a:lstStyle/>
                    <a:p>
                      <a:r>
                        <a:rPr lang="en-US" sz="1000" b="0" i="0" dirty="0">
                          <a:solidFill>
                            <a:schemeClr val="dk1"/>
                          </a:solidFill>
                          <a:effectLst/>
                          <a:latin typeface="+mn-lt"/>
                          <a:ea typeface="+mn-ea"/>
                          <a:cs typeface="+mn-cs"/>
                        </a:rPr>
                        <a:t>The provided text effectively introduces the problem, the role of text summarization, and the specific focus on extractive methods in the context of handling vast amounts of Internet data. The promise of a comparative analysis adds further value to the paper.</a:t>
                      </a:r>
                      <a:endParaRPr lang="en-IN" sz="1000" dirty="0"/>
                    </a:p>
                  </a:txBody>
                  <a:tcPr/>
                </a:tc>
                <a:extLst>
                  <a:ext uri="{0D108BD9-81ED-4DB2-BD59-A6C34878D82A}">
                    <a16:rowId xmlns:a16="http://schemas.microsoft.com/office/drawing/2014/main" val="3097843794"/>
                  </a:ext>
                </a:extLst>
              </a:tr>
              <a:tr h="2077793">
                <a:tc>
                  <a:txBody>
                    <a:bodyPr/>
                    <a:lstStyle/>
                    <a:p>
                      <a:r>
                        <a:rPr lang="en-US" dirty="0"/>
                        <a:t>5</a:t>
                      </a:r>
                      <a:endParaRPr lang="en-IN" dirty="0"/>
                    </a:p>
                  </a:txBody>
                  <a:tcPr/>
                </a:tc>
                <a:tc>
                  <a:txBody>
                    <a:bodyPr/>
                    <a:lstStyle/>
                    <a:p>
                      <a:r>
                        <a:rPr lang="en-US" sz="1000" b="0" i="0" dirty="0">
                          <a:solidFill>
                            <a:schemeClr val="dk1"/>
                          </a:solidFill>
                          <a:effectLst/>
                          <a:latin typeface="+mn-lt"/>
                          <a:ea typeface="+mn-ea"/>
                          <a:cs typeface="+mn-cs"/>
                        </a:rPr>
                        <a:t>B </a:t>
                      </a:r>
                      <a:r>
                        <a:rPr lang="en-US" sz="1000" b="0" i="0" dirty="0" err="1">
                          <a:solidFill>
                            <a:schemeClr val="dk1"/>
                          </a:solidFill>
                          <a:effectLst/>
                          <a:latin typeface="+mn-lt"/>
                          <a:ea typeface="+mn-ea"/>
                          <a:cs typeface="+mn-cs"/>
                        </a:rPr>
                        <a:t>Roogue</a:t>
                      </a:r>
                      <a:r>
                        <a:rPr lang="en-US" sz="1000" b="0" i="0" dirty="0">
                          <a:solidFill>
                            <a:schemeClr val="dk1"/>
                          </a:solidFill>
                          <a:effectLst/>
                          <a:latin typeface="+mn-lt"/>
                          <a:ea typeface="+mn-ea"/>
                          <a:cs typeface="+mn-cs"/>
                        </a:rPr>
                        <a:t>,</a:t>
                      </a:r>
                    </a:p>
                    <a:p>
                      <a:r>
                        <a:rPr lang="en-US" sz="1000" b="0" i="0" dirty="0">
                          <a:solidFill>
                            <a:schemeClr val="dk1"/>
                          </a:solidFill>
                          <a:effectLst/>
                          <a:latin typeface="+mn-lt"/>
                          <a:ea typeface="+mn-ea"/>
                          <a:cs typeface="+mn-cs"/>
                        </a:rPr>
                        <a:t>G Ramesh</a:t>
                      </a:r>
                    </a:p>
                    <a:p>
                      <a:r>
                        <a:rPr lang="en-US" sz="1000" b="0" i="0" u="none" strike="noStrike" dirty="0">
                          <a:solidFill>
                            <a:schemeClr val="dk1"/>
                          </a:solidFill>
                          <a:effectLst/>
                          <a:latin typeface="+mn-lt"/>
                          <a:ea typeface="+mn-ea"/>
                          <a:cs typeface="+mn-cs"/>
                        </a:rPr>
                        <a:t>2020 Second International Conference on Inventive Research in Computing Applications (ICIRCA)</a:t>
                      </a:r>
                      <a:endParaRPr lang="en-IN" sz="1000" dirty="0"/>
                    </a:p>
                  </a:txBody>
                  <a:tcPr/>
                </a:tc>
                <a:tc>
                  <a:txBody>
                    <a:bodyPr/>
                    <a:lstStyle/>
                    <a:p>
                      <a:r>
                        <a:rPr lang="en-US" sz="1000" b="0" i="0" dirty="0">
                          <a:solidFill>
                            <a:schemeClr val="dk1"/>
                          </a:solidFill>
                          <a:effectLst/>
                          <a:latin typeface="+mn-lt"/>
                          <a:ea typeface="+mn-ea"/>
                          <a:cs typeface="+mn-cs"/>
                        </a:rPr>
                        <a:t>NLP based Text Summarization for Summarizing Product Reviews</a:t>
                      </a:r>
                    </a:p>
                  </a:txBody>
                  <a:tcPr/>
                </a:tc>
                <a:tc>
                  <a:txBody>
                    <a:bodyPr/>
                    <a:lstStyle/>
                    <a:p>
                      <a:r>
                        <a:rPr lang="en-US" sz="1000" b="0" i="0" dirty="0">
                          <a:solidFill>
                            <a:schemeClr val="dk1"/>
                          </a:solidFill>
                          <a:effectLst/>
                          <a:latin typeface="+mn-lt"/>
                          <a:ea typeface="+mn-ea"/>
                          <a:cs typeface="+mn-cs"/>
                        </a:rPr>
                        <a:t>The specific mention of the model used and the emphasis on accuracy contribute to the overall clarity and depth of the proposal.</a:t>
                      </a:r>
                      <a:endParaRPr lang="en-IN" sz="1000" dirty="0"/>
                    </a:p>
                  </a:txBody>
                  <a:tcPr/>
                </a:tc>
                <a:tc>
                  <a:txBody>
                    <a:bodyPr/>
                    <a:lstStyle/>
                    <a:p>
                      <a:r>
                        <a:rPr lang="en-US" sz="1000" b="0" i="0" dirty="0">
                          <a:solidFill>
                            <a:schemeClr val="dk1"/>
                          </a:solidFill>
                          <a:effectLst/>
                          <a:latin typeface="+mn-lt"/>
                          <a:ea typeface="+mn-ea"/>
                          <a:cs typeface="+mn-cs"/>
                        </a:rPr>
                        <a:t>The specific mention of using the seq2seq model along with LSTM and attention mechanism adds technical detail to the paper. It provides readers with information on the specific techniques employed, contributing to the credibility of the survey. </a:t>
                      </a:r>
                      <a:endParaRPr lang="en-IN" sz="1000" dirty="0"/>
                    </a:p>
                  </a:txBody>
                  <a:tcPr/>
                </a:tc>
                <a:tc>
                  <a:txBody>
                    <a:bodyPr/>
                    <a:lstStyle/>
                    <a:p>
                      <a:r>
                        <a:rPr lang="en-US" sz="1000" b="0" i="0" dirty="0">
                          <a:solidFill>
                            <a:schemeClr val="dk1"/>
                          </a:solidFill>
                          <a:effectLst/>
                          <a:latin typeface="+mn-lt"/>
                          <a:ea typeface="+mn-ea"/>
                          <a:cs typeface="+mn-cs"/>
                        </a:rPr>
                        <a:t>The emphasis on increased accuracy, particularly with the mention of the seq2seq model and attention mechanism, indicates a commitment to leveraging advanced NLP techniques for effective text summarization.</a:t>
                      </a:r>
                      <a:endParaRPr lang="en-IN" sz="1000" dirty="0"/>
                    </a:p>
                  </a:txBody>
                  <a:tcPr/>
                </a:tc>
                <a:extLst>
                  <a:ext uri="{0D108BD9-81ED-4DB2-BD59-A6C34878D82A}">
                    <a16:rowId xmlns:a16="http://schemas.microsoft.com/office/drawing/2014/main" val="3396774005"/>
                  </a:ext>
                </a:extLst>
              </a:tr>
              <a:tr h="1944601">
                <a:tc>
                  <a:txBody>
                    <a:bodyPr/>
                    <a:lstStyle/>
                    <a:p>
                      <a:r>
                        <a:rPr lang="en-US" dirty="0"/>
                        <a:t>6</a:t>
                      </a:r>
                      <a:endParaRPr lang="en-IN" dirty="0"/>
                    </a:p>
                  </a:txBody>
                  <a:tcPr/>
                </a:tc>
                <a:tc>
                  <a:txBody>
                    <a:bodyPr/>
                    <a:lstStyle/>
                    <a:p>
                      <a:r>
                        <a:rPr lang="en-US" sz="1000" b="0" i="0" dirty="0">
                          <a:solidFill>
                            <a:schemeClr val="dk1"/>
                          </a:solidFill>
                          <a:effectLst/>
                          <a:latin typeface="+mn-lt"/>
                          <a:ea typeface="+mn-ea"/>
                          <a:cs typeface="+mn-cs"/>
                        </a:rPr>
                        <a:t>Ashish </a:t>
                      </a:r>
                      <a:r>
                        <a:rPr lang="en-US" sz="1000" b="0" i="0" dirty="0" err="1">
                          <a:solidFill>
                            <a:schemeClr val="dk1"/>
                          </a:solidFill>
                          <a:effectLst/>
                          <a:latin typeface="+mn-lt"/>
                          <a:ea typeface="+mn-ea"/>
                          <a:cs typeface="+mn-cs"/>
                        </a:rPr>
                        <a:t>kumar</a:t>
                      </a:r>
                      <a:r>
                        <a:rPr lang="en-US" sz="1000" b="0" i="0" dirty="0">
                          <a:solidFill>
                            <a:schemeClr val="dk1"/>
                          </a:solidFill>
                          <a:effectLst/>
                          <a:latin typeface="+mn-lt"/>
                          <a:ea typeface="+mn-ea"/>
                          <a:cs typeface="+mn-cs"/>
                        </a:rPr>
                        <a:t>, </a:t>
                      </a:r>
                      <a:r>
                        <a:rPr lang="en-US" sz="1000" b="0" i="0" dirty="0" err="1">
                          <a:solidFill>
                            <a:schemeClr val="dk1"/>
                          </a:solidFill>
                          <a:effectLst/>
                          <a:latin typeface="+mn-lt"/>
                          <a:ea typeface="+mn-ea"/>
                          <a:cs typeface="+mn-cs"/>
                        </a:rPr>
                        <a:t>Swarnanjili</a:t>
                      </a:r>
                      <a:r>
                        <a:rPr lang="en-US" sz="1000" b="0" i="0" dirty="0">
                          <a:solidFill>
                            <a:schemeClr val="dk1"/>
                          </a:solidFill>
                          <a:effectLst/>
                          <a:latin typeface="+mn-lt"/>
                          <a:ea typeface="+mn-ea"/>
                          <a:cs typeface="+mn-cs"/>
                        </a:rPr>
                        <a:t> </a:t>
                      </a:r>
                      <a:r>
                        <a:rPr lang="en-US" sz="1000" b="0" i="0" dirty="0" err="1">
                          <a:solidFill>
                            <a:schemeClr val="dk1"/>
                          </a:solidFill>
                          <a:effectLst/>
                          <a:latin typeface="+mn-lt"/>
                          <a:ea typeface="+mn-ea"/>
                          <a:cs typeface="+mn-cs"/>
                        </a:rPr>
                        <a:t>Jugran</a:t>
                      </a:r>
                      <a:r>
                        <a:rPr lang="en-US" sz="1000" b="0" i="0" dirty="0">
                          <a:solidFill>
                            <a:schemeClr val="dk1"/>
                          </a:solidFill>
                          <a:effectLst/>
                          <a:latin typeface="+mn-lt"/>
                          <a:ea typeface="+mn-ea"/>
                          <a:cs typeface="+mn-cs"/>
                        </a:rPr>
                        <a:t>,</a:t>
                      </a:r>
                    </a:p>
                    <a:p>
                      <a:r>
                        <a:rPr lang="en-US" sz="1000" b="0" i="0" dirty="0" err="1">
                          <a:solidFill>
                            <a:schemeClr val="dk1"/>
                          </a:solidFill>
                          <a:effectLst/>
                          <a:latin typeface="+mn-lt"/>
                          <a:ea typeface="+mn-ea"/>
                          <a:cs typeface="+mn-cs"/>
                        </a:rPr>
                        <a:t>Bhupendar</a:t>
                      </a:r>
                      <a:r>
                        <a:rPr lang="en-US" sz="1000" b="0" i="0" dirty="0">
                          <a:solidFill>
                            <a:schemeClr val="dk1"/>
                          </a:solidFill>
                          <a:effectLst/>
                          <a:latin typeface="+mn-lt"/>
                          <a:ea typeface="+mn-ea"/>
                          <a:cs typeface="+mn-cs"/>
                        </a:rPr>
                        <a:t> </a:t>
                      </a:r>
                      <a:r>
                        <a:rPr lang="en-US" sz="1000" b="0" i="0" dirty="0" err="1">
                          <a:solidFill>
                            <a:schemeClr val="dk1"/>
                          </a:solidFill>
                          <a:effectLst/>
                          <a:latin typeface="+mn-lt"/>
                          <a:ea typeface="+mn-ea"/>
                          <a:cs typeface="+mn-cs"/>
                        </a:rPr>
                        <a:t>singh</a:t>
                      </a:r>
                      <a:r>
                        <a:rPr lang="en-US" sz="1000" b="0" i="0" dirty="0">
                          <a:solidFill>
                            <a:schemeClr val="dk1"/>
                          </a:solidFill>
                          <a:effectLst/>
                          <a:latin typeface="+mn-lt"/>
                          <a:ea typeface="+mn-ea"/>
                          <a:cs typeface="+mn-cs"/>
                        </a:rPr>
                        <a:t> </a:t>
                      </a:r>
                      <a:r>
                        <a:rPr lang="en-US" sz="1000" b="0" i="0" dirty="0" err="1">
                          <a:solidFill>
                            <a:schemeClr val="dk1"/>
                          </a:solidFill>
                          <a:effectLst/>
                          <a:latin typeface="+mn-lt"/>
                          <a:ea typeface="+mn-ea"/>
                          <a:cs typeface="+mn-cs"/>
                        </a:rPr>
                        <a:t>tyagi</a:t>
                      </a:r>
                      <a:r>
                        <a:rPr lang="en-US" sz="1000" b="0" i="0" dirty="0">
                          <a:solidFill>
                            <a:schemeClr val="dk1"/>
                          </a:solidFill>
                          <a:effectLst/>
                          <a:latin typeface="+mn-lt"/>
                          <a:ea typeface="+mn-ea"/>
                          <a:cs typeface="+mn-cs"/>
                        </a:rPr>
                        <a:t>,</a:t>
                      </a:r>
                    </a:p>
                    <a:p>
                      <a:r>
                        <a:rPr lang="en-US" sz="1000" b="0" i="0" dirty="0">
                          <a:solidFill>
                            <a:schemeClr val="dk1"/>
                          </a:solidFill>
                          <a:effectLst/>
                          <a:latin typeface="+mn-lt"/>
                          <a:ea typeface="+mn-ea"/>
                          <a:cs typeface="+mn-cs"/>
                        </a:rPr>
                        <a:t>Vivek </a:t>
                      </a:r>
                      <a:r>
                        <a:rPr lang="en-US" sz="1000" b="0" i="0" dirty="0" err="1">
                          <a:solidFill>
                            <a:schemeClr val="dk1"/>
                          </a:solidFill>
                          <a:effectLst/>
                          <a:latin typeface="+mn-lt"/>
                          <a:ea typeface="+mn-ea"/>
                          <a:cs typeface="+mn-cs"/>
                        </a:rPr>
                        <a:t>anand</a:t>
                      </a:r>
                      <a:r>
                        <a:rPr lang="en-US" sz="1000" b="0" i="0" dirty="0">
                          <a:solidFill>
                            <a:schemeClr val="dk1"/>
                          </a:solidFill>
                          <a:effectLst/>
                          <a:latin typeface="+mn-lt"/>
                          <a:ea typeface="+mn-ea"/>
                          <a:cs typeface="+mn-cs"/>
                        </a:rPr>
                        <a:t> </a:t>
                      </a:r>
                      <a:r>
                        <a:rPr lang="en-US" sz="1000" b="0" i="0" u="none" strike="noStrike" dirty="0">
                          <a:solidFill>
                            <a:schemeClr val="dk1"/>
                          </a:solidFill>
                          <a:effectLst/>
                          <a:latin typeface="+mn-lt"/>
                          <a:ea typeface="+mn-ea"/>
                          <a:cs typeface="+mn-cs"/>
                        </a:rPr>
                        <a:t>2021 International Conference on Advance Computing and Innovative Technologies in Engineering (ICACITE)</a:t>
                      </a:r>
                      <a:endParaRPr lang="en-IN" sz="1000" dirty="0"/>
                    </a:p>
                  </a:txBody>
                  <a:tcPr/>
                </a:tc>
                <a:tc>
                  <a:txBody>
                    <a:bodyPr/>
                    <a:lstStyle/>
                    <a:p>
                      <a:r>
                        <a:rPr lang="en-US" sz="1000" b="0" i="0" dirty="0">
                          <a:solidFill>
                            <a:schemeClr val="dk1"/>
                          </a:solidFill>
                          <a:effectLst/>
                          <a:latin typeface="+mn-lt"/>
                          <a:ea typeface="+mn-ea"/>
                          <a:cs typeface="+mn-cs"/>
                        </a:rPr>
                        <a:t>Extractive Automatic Text Summarization using </a:t>
                      </a:r>
                      <a:r>
                        <a:rPr lang="en-US" sz="1000" b="0" i="0" dirty="0" err="1">
                          <a:solidFill>
                            <a:schemeClr val="dk1"/>
                          </a:solidFill>
                          <a:effectLst/>
                          <a:latin typeface="+mn-lt"/>
                          <a:ea typeface="+mn-ea"/>
                          <a:cs typeface="+mn-cs"/>
                        </a:rPr>
                        <a:t>SpaCy</a:t>
                      </a:r>
                      <a:r>
                        <a:rPr lang="en-US" sz="1000" b="0" i="0" dirty="0">
                          <a:solidFill>
                            <a:schemeClr val="dk1"/>
                          </a:solidFill>
                          <a:effectLst/>
                          <a:latin typeface="+mn-lt"/>
                          <a:ea typeface="+mn-ea"/>
                          <a:cs typeface="+mn-cs"/>
                        </a:rPr>
                        <a:t> in Python &amp; NLP</a:t>
                      </a:r>
                    </a:p>
                  </a:txBody>
                  <a:tcPr/>
                </a:tc>
                <a:tc>
                  <a:txBody>
                    <a:bodyPr/>
                    <a:lstStyle/>
                    <a:p>
                      <a:r>
                        <a:rPr lang="en-US" sz="1000" b="0" i="0" dirty="0">
                          <a:solidFill>
                            <a:schemeClr val="dk1"/>
                          </a:solidFill>
                          <a:effectLst/>
                          <a:latin typeface="+mn-lt"/>
                          <a:ea typeface="+mn-ea"/>
                          <a:cs typeface="+mn-cs"/>
                        </a:rPr>
                        <a:t>Automatic Text Summarization Using Natural Language Processing</a:t>
                      </a:r>
                      <a:endParaRPr lang="en-IN" sz="1000" dirty="0"/>
                    </a:p>
                  </a:txBody>
                  <a:tcPr/>
                </a:tc>
                <a:tc>
                  <a:txBody>
                    <a:bodyPr/>
                    <a:lstStyle/>
                    <a:p>
                      <a:r>
                        <a:rPr lang="en-US" sz="1000" b="0" i="0" dirty="0">
                          <a:solidFill>
                            <a:schemeClr val="dk1"/>
                          </a:solidFill>
                          <a:effectLst/>
                          <a:latin typeface="+mn-lt"/>
                          <a:ea typeface="+mn-ea"/>
                          <a:cs typeface="+mn-cs"/>
                        </a:rPr>
                        <a:t>The choice of Automatic Text Summarization as a problem to address is justified by its efficiency in summarizing voluminous texts in a cost and time-efficient manner. This choice aligns with the broader goal of coping with the challenges posed by the abundance of </a:t>
                      </a:r>
                      <a:r>
                        <a:rPr lang="en-US" sz="1000" b="0" i="0" dirty="0" err="1">
                          <a:solidFill>
                            <a:schemeClr val="dk1"/>
                          </a:solidFill>
                          <a:effectLst/>
                          <a:latin typeface="+mn-lt"/>
                          <a:ea typeface="+mn-ea"/>
                          <a:cs typeface="+mn-cs"/>
                        </a:rPr>
                        <a:t>data.and</a:t>
                      </a:r>
                      <a:r>
                        <a:rPr lang="en-US" sz="1000" b="0" i="0" dirty="0">
                          <a:solidFill>
                            <a:schemeClr val="dk1"/>
                          </a:solidFill>
                          <a:effectLst/>
                          <a:latin typeface="+mn-lt"/>
                          <a:ea typeface="+mn-ea"/>
                          <a:cs typeface="+mn-cs"/>
                        </a:rPr>
                        <a:t> using NLP to read through the text and provide effective summaries</a:t>
                      </a:r>
                      <a:endParaRPr lang="en-IN" sz="1000" dirty="0"/>
                    </a:p>
                  </a:txBody>
                  <a:tcPr/>
                </a:tc>
                <a:tc>
                  <a:txBody>
                    <a:bodyPr/>
                    <a:lstStyle/>
                    <a:p>
                      <a:r>
                        <a:rPr lang="en-US" sz="1000" b="0" i="0" dirty="0">
                          <a:solidFill>
                            <a:schemeClr val="dk1"/>
                          </a:solidFill>
                          <a:effectLst/>
                          <a:latin typeface="+mn-lt"/>
                          <a:ea typeface="+mn-ea"/>
                          <a:cs typeface="+mn-cs"/>
                        </a:rPr>
                        <a:t>the provided text effectively introduces the importance of data in the present era, justifies the need for text summarization, and clearly states the main agenda of developing meaningful summaries. The choice of the problem and its practical implications are well-articulated.</a:t>
                      </a:r>
                      <a:endParaRPr lang="en-IN" sz="1000" dirty="0"/>
                    </a:p>
                  </a:txBody>
                  <a:tcPr/>
                </a:tc>
                <a:extLst>
                  <a:ext uri="{0D108BD9-81ED-4DB2-BD59-A6C34878D82A}">
                    <a16:rowId xmlns:a16="http://schemas.microsoft.com/office/drawing/2014/main" val="715288033"/>
                  </a:ext>
                </a:extLst>
              </a:tr>
              <a:tr h="987047">
                <a:tc>
                  <a:txBody>
                    <a:bodyPr/>
                    <a:lstStyle/>
                    <a:p>
                      <a:endParaRPr lang="en-IN"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extLst>
                  <a:ext uri="{0D108BD9-81ED-4DB2-BD59-A6C34878D82A}">
                    <a16:rowId xmlns:a16="http://schemas.microsoft.com/office/drawing/2014/main" val="3764279788"/>
                  </a:ext>
                </a:extLst>
              </a:tr>
            </a:tbl>
          </a:graphicData>
        </a:graphic>
      </p:graphicFrame>
    </p:spTree>
    <p:extLst>
      <p:ext uri="{BB962C8B-B14F-4D97-AF65-F5344CB8AC3E}">
        <p14:creationId xmlns:p14="http://schemas.microsoft.com/office/powerpoint/2010/main" val="91453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Implementation of Existing system</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D71EE29-BD7E-9271-6B11-F10C7BE642B3}"/>
              </a:ext>
            </a:extLst>
          </p:cNvPr>
          <p:cNvSpPr txBox="1"/>
          <p:nvPr/>
        </p:nvSpPr>
        <p:spPr>
          <a:xfrm>
            <a:off x="457200" y="1752600"/>
            <a:ext cx="8305800" cy="5078313"/>
          </a:xfrm>
          <a:prstGeom prst="rect">
            <a:avLst/>
          </a:prstGeom>
          <a:noFill/>
        </p:spPr>
        <p:txBody>
          <a:bodyPr wrap="square" rtlCol="0">
            <a:spAutoFit/>
          </a:bodyPr>
          <a:lstStyle/>
          <a:p>
            <a:pPr marL="285750" indent="-285750" algn="just">
              <a:buFont typeface="Arial" panose="020B0604020202020204" pitchFamily="34" charset="0"/>
              <a:buChar char="•"/>
            </a:pPr>
            <a:r>
              <a:rPr lang="en-US" dirty="0"/>
              <a:t>Select the type of summary you want: abstractive or extractive.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Gather various datasets that include summaries and accompanying text.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 Clean and format the data as a preprocessing step.</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 Use Text Rank or machine learning algorithms for extractive.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Tokenize the text by assigning number vectors to each word.</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Models are trained with labeled data.</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Adjust for certain summarizing assignments.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Include the model in batch or real-time processing applications.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827698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Results</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B05C8FD-F04D-97E1-6D00-2348A9CA7568}"/>
              </a:ext>
            </a:extLst>
          </p:cNvPr>
          <p:cNvSpPr txBox="1"/>
          <p:nvPr/>
        </p:nvSpPr>
        <p:spPr>
          <a:xfrm>
            <a:off x="457200" y="1719600"/>
            <a:ext cx="8381160" cy="452431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text summarization project starts by collecting a diverse set of documents and preparing them for analysis. Utilizing a machine learning model, such as a Transformer-based architecture, the system learns to extract key content and generate concise summaries.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interact with the system through a user-friendly application, capturing text input via mobile or PC. The model processes the input and produces abstractive summaries, preserving the essential information from the original text.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incorporates checks for specific summarization features, adapting to different document types and styles. It continuously improves through updates and user feedback, ensuring relevance in the face of evolving language patterns.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Ethical considerations are paramount, with the system designed to adhere to legal standards and privacy regulations. Quality control mechanisms review generated summaries to confirm accuracy and maintain high standards of output.</a:t>
            </a:r>
          </a:p>
        </p:txBody>
      </p:sp>
    </p:spTree>
    <p:extLst>
      <p:ext uri="{BB962C8B-B14F-4D97-AF65-F5344CB8AC3E}">
        <p14:creationId xmlns:p14="http://schemas.microsoft.com/office/powerpoint/2010/main" val="742721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Conclusion</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F985EEA-F8E4-E5A6-C300-F3BD7D727CB7}"/>
              </a:ext>
            </a:extLst>
          </p:cNvPr>
          <p:cNvSpPr txBox="1"/>
          <p:nvPr/>
        </p:nvSpPr>
        <p:spPr>
          <a:xfrm>
            <a:off x="495300" y="1644120"/>
            <a:ext cx="8304960" cy="4524315"/>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With the huge amount of data available on the internet, extracting the top data as a concept brief would be useful for some users. Since there is a huge amount of data deployed on the internet, there is always a need to find a way to reduce the length of the text and provide a clear summary.</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Summarizing the text is still a work in progress in several research areas and needs to be further researched and developed in the summary of the texts. Due to the huge increase in the amount of data available online, extracting the top information as a conceptual summary will be useful for some researchers.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this paper we have drawn the reader’s attention to the latest and main data problems as well as the need to summarize the texts and explained how short texts can be useful while keeping the original texts intact.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optimization way can also be used to solve different problems.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380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D3063D5-1B4C-6633-5B23-F5735712DABF}"/>
              </a:ext>
            </a:extLst>
          </p:cNvPr>
          <p:cNvSpPr/>
          <p:nvPr/>
        </p:nvSpPr>
        <p:spPr>
          <a:xfrm>
            <a:off x="457200" y="1102925"/>
            <a:ext cx="8381160" cy="75600"/>
          </a:xfrm>
          <a:prstGeom prst="rect">
            <a:avLst/>
          </a:prstGeom>
          <a:solidFill>
            <a:srgbClr val="7030A0"/>
          </a:solidFill>
          <a:ln w="25560">
            <a:solidFill>
              <a:srgbClr val="3A5F8B"/>
            </a:solidFill>
            <a:round/>
          </a:ln>
        </p:spPr>
        <p:txBody>
          <a:bodyPr/>
          <a:lstStyle/>
          <a:p>
            <a:endParaRPr lang="en-IN"/>
          </a:p>
        </p:txBody>
      </p:sp>
      <p:sp>
        <p:nvSpPr>
          <p:cNvPr id="3" name="Rectangle 2">
            <a:extLst>
              <a:ext uri="{FF2B5EF4-FFF2-40B4-BE49-F238E27FC236}">
                <a16:creationId xmlns:a16="http://schemas.microsoft.com/office/drawing/2014/main" id="{281672FD-F18A-D06B-B90B-0C848401ACC7}"/>
              </a:ext>
            </a:extLst>
          </p:cNvPr>
          <p:cNvSpPr/>
          <p:nvPr/>
        </p:nvSpPr>
        <p:spPr>
          <a:xfrm>
            <a:off x="457200" y="533400"/>
            <a:ext cx="2052100" cy="584775"/>
          </a:xfrm>
          <a:prstGeom prst="rect">
            <a:avLst/>
          </a:prstGeom>
        </p:spPr>
        <p:txBody>
          <a:bodyPr wrap="none">
            <a:spAutoFit/>
          </a:bodyPr>
          <a:lstStyle/>
          <a:p>
            <a:r>
              <a:rPr lang="en-IN" sz="3200" b="1" dirty="0">
                <a:solidFill>
                  <a:srgbClr val="C00000"/>
                </a:solidFill>
                <a:latin typeface="Calibri" pitchFamily="34" charset="0"/>
              </a:rPr>
              <a:t>References</a:t>
            </a:r>
            <a:endParaRPr lang="en-US" sz="3200" dirty="0">
              <a:solidFill>
                <a:srgbClr val="C00000"/>
              </a:solidFill>
              <a:latin typeface="Calibri" pitchFamily="34" charset="0"/>
            </a:endParaRPr>
          </a:p>
        </p:txBody>
      </p:sp>
      <p:sp>
        <p:nvSpPr>
          <p:cNvPr id="4" name="Subtitle 3">
            <a:extLst>
              <a:ext uri="{FF2B5EF4-FFF2-40B4-BE49-F238E27FC236}">
                <a16:creationId xmlns:a16="http://schemas.microsoft.com/office/drawing/2014/main" id="{59AF19F6-96A8-65F3-F50E-9556E8A47CED}"/>
              </a:ext>
            </a:extLst>
          </p:cNvPr>
          <p:cNvSpPr>
            <a:spLocks noGrp="1"/>
          </p:cNvSpPr>
          <p:nvPr>
            <p:ph type="subTitle"/>
          </p:nvPr>
        </p:nvSpPr>
        <p:spPr>
          <a:xfrm>
            <a:off x="686160" y="2133600"/>
            <a:ext cx="7771680" cy="3450960"/>
          </a:xfrm>
        </p:spPr>
        <p:txBody>
          <a:bodyPr/>
          <a:lstStyle/>
          <a:p>
            <a:pPr marL="285750" indent="-285750">
              <a:buFont typeface="Wingdings" panose="05000000000000000000" pitchFamily="2" charset="2"/>
              <a:buChar char="Ø"/>
            </a:pPr>
            <a:r>
              <a:rPr lang="en-US" sz="1400" dirty="0">
                <a:hlinkClick r:id="rId2"/>
              </a:rPr>
              <a:t>https://www.researchgate.net/publication/257947528_Text_SummarizationAn_Overview</a:t>
            </a: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hlinkClick r:id="rId3"/>
              </a:rPr>
              <a:t>https://www.researchgate.net/publication/366231011_Text_Summarization_using_NLP_Technique</a:t>
            </a: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hlinkClick r:id="rId4"/>
              </a:rPr>
              <a:t>https://www.researchgate.net/publication/337653638_Text_Summarization_A_Brief_Review</a:t>
            </a: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hlinkClick r:id="rId5"/>
              </a:rPr>
              <a:t>https://www.researchgate.net/publication/220974615_Automatic_Text_</a:t>
            </a:r>
          </a:p>
          <a:p>
            <a:r>
              <a:rPr lang="en-US" sz="1400" dirty="0">
                <a:hlinkClick r:id="rId5"/>
              </a:rPr>
              <a:t>      </a:t>
            </a:r>
            <a:r>
              <a:rPr lang="en-US" sz="1400" dirty="0" err="1">
                <a:hlinkClick r:id="rId5"/>
              </a:rPr>
              <a:t>Summarization_Using_a_Machine_Learning_Approach</a:t>
            </a:r>
            <a:endParaRPr lang="en-US" sz="1400" dirty="0"/>
          </a:p>
          <a:p>
            <a:pPr marL="285750" indent="-285750">
              <a:buFont typeface="Wingdings" panose="05000000000000000000" pitchFamily="2" charset="2"/>
              <a:buChar char="Ø"/>
            </a:pPr>
            <a:endParaRPr lang="en-US" sz="1400" dirty="0"/>
          </a:p>
          <a:p>
            <a:endParaRPr lang="en-US" sz="1400" dirty="0"/>
          </a:p>
          <a:p>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endParaRPr lang="en-US" sz="1400" dirty="0"/>
          </a:p>
          <a:p>
            <a:endParaRPr lang="en-US" sz="1400" dirty="0"/>
          </a:p>
        </p:txBody>
      </p:sp>
    </p:spTree>
    <p:extLst>
      <p:ext uri="{BB962C8B-B14F-4D97-AF65-F5344CB8AC3E}">
        <p14:creationId xmlns:p14="http://schemas.microsoft.com/office/powerpoint/2010/main" val="3405576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86201" y="264417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2009</Words>
  <Application>Microsoft Office PowerPoint</Application>
  <PresentationFormat>On-screen Show (4:3)</PresentationFormat>
  <Paragraphs>187</Paragraphs>
  <Slides>20</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Arial</vt:lpstr>
      <vt:lpstr>Arial Black</vt:lpstr>
      <vt:lpstr>Bookman Old Style</vt:lpstr>
      <vt:lpstr>Calibri</vt:lpstr>
      <vt:lpstr>StarSymbol</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sumit chelluru</cp:lastModifiedBy>
  <cp:revision>760</cp:revision>
  <dcterms:created xsi:type="dcterms:W3CDTF">2023-09-10T07:29:00Z</dcterms:created>
  <dcterms:modified xsi:type="dcterms:W3CDTF">2023-10-17T07:41:26Z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4ADC63AA7C5946EFADC3D759ED969666_13</vt:lpwstr>
  </property>
  <property fmtid="{D5CDD505-2E9C-101B-9397-08002B2CF9AE}" pid="3" name="KSOProductBuildVer">
    <vt:lpwstr>1033-12.2.0.13201</vt:lpwstr>
  </property>
</Properties>
</file>